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pitch: Nexus finds wasted ad spend and shows where to spend next. Live demo is at techiemechiebetadq.up.railway.app.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platform tells you how you are doing. None of them tell you what to do. Walk through the four pains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promises: one view, real profit, explanations in plain English, and the owner stays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from our landing page: click rate fell 50% in 30 days; ads ran 10 days on an empty shelf; a phone case with ROAS 3.8x that still lost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or three dashboard screenshots here if you can. The sidebar groups pages into Insights, Manage and Workspace. Demo login can look around but not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from data to decision. Stress that actions are ranked by profit and that the owner always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browser, FastAPI backend, Supabase. Mention the three design choices: stateless, transactional syncs, and database locked 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runs on Groq (openai/gpt-oss-120b) with Gemini as backup. The key idea is that the dashboard never goes blank: if the AI is unavailable, rule-based insights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orders and ad numbers are simulated in this prototype. The next step is connecting real platform APIs. Close on the tagline and invite judges to try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3A241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7F1E8"/>
                </a:solidFill>
                <a:latin typeface="DM Serif Display" pitchFamily="34" charset="0"/>
                <a:ea typeface="DM Serif Display" pitchFamily="34" charset="-122"/>
                <a:cs typeface="DM Serif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0"/>
            <a:ext cx="10566400" cy="4091940"/>
          </a:xfrm>
          <a:prstGeom prst="rect">
            <a:avLst/>
          </a:prstGeom>
          <a:noFill/>
          <a:ln/>
        </p:spPr>
        <p:txBody>
          <a:bodyPr wrap="square" lIns="0" tIns="0" rIns="0" bIns="0" rtlCol="0" anchor="t"/>
          <a:lstStyle>
            <a:lvl1pPr algn="l" indent="0" marL="0">
              <a:lnSpc>
                <a:spcPct val="140000"/>
              </a:lnSpc>
              <a:buNone/>
              <a:defRPr lang="en-US" sz="1600" dirty="0">
                <a:solidFill>
                  <a:srgbClr val="F7F1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241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7F1E8"/>
                </a:solidFill>
                <a:latin typeface="DM Serif Display" pitchFamily="34" charset="0"/>
                <a:ea typeface="DM Serif Display" pitchFamily="34" charset="-122"/>
                <a:cs typeface="DM Serif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0"/>
            <a:ext cx="10566400" cy="4091940"/>
          </a:xfrm>
          <a:prstGeom prst="rect">
            <a:avLst/>
          </a:prstGeom>
          <a:noFill/>
          <a:ln/>
        </p:spPr>
        <p:txBody>
          <a:bodyPr wrap="square" lIns="0" tIns="0" rIns="0" bIns="0" rtlCol="0" anchor="t"/>
          <a:lstStyle>
            <a:lvl1pPr algn="l" indent="0" marL="0">
              <a:lnSpc>
                <a:spcPct val="140000"/>
              </a:lnSpc>
              <a:buNone/>
              <a:defRPr lang="en-US" sz="1600" dirty="0">
                <a:solidFill>
                  <a:srgbClr val="F7F1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41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E0B48A"/>
          </a:solidFill>
          <a:ln/>
        </p:spPr>
      </p:sp>
      <p:sp>
        <p:nvSpPr>
          <p:cNvPr id="3" name="Shape 1"/>
          <p:cNvSpPr/>
          <p:nvPr/>
        </p:nvSpPr>
        <p:spPr>
          <a:xfrm>
            <a:off x="7874000" y="889000"/>
            <a:ext cx="4064000" cy="4064000"/>
          </a:xfrm>
          <a:prstGeom prst="roundRect">
            <a:avLst>
              <a:gd name="adj" fmla="val 40000"/>
            </a:avLst>
          </a:prstGeom>
          <a:solidFill>
            <a:srgbClr val="4A2F20"/>
          </a:solidFill>
          <a:ln/>
        </p:spPr>
      </p:sp>
      <p:sp>
        <p:nvSpPr>
          <p:cNvPr id="4" name="Shape 2"/>
          <p:cNvSpPr/>
          <p:nvPr/>
        </p:nvSpPr>
        <p:spPr>
          <a:xfrm>
            <a:off x="9398000" y="3556000"/>
            <a:ext cx="2286000" cy="2286000"/>
          </a:xfrm>
          <a:prstGeom prst="roundRect">
            <a:avLst>
              <a:gd name="adj" fmla="val 50000"/>
            </a:avLst>
          </a:prstGeom>
          <a:solidFill>
            <a:srgbClr val="E0B48A"/>
          </a:solidFill>
          <a:ln/>
        </p:spPr>
      </p:sp>
      <p:sp>
        <p:nvSpPr>
          <p:cNvPr id="5" name="Text 3"/>
          <p:cNvSpPr/>
          <p:nvPr/>
        </p:nvSpPr>
        <p:spPr>
          <a:xfrm>
            <a:off x="812800" y="1376998"/>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300" kern="0" dirty="0">
                <a:solidFill>
                  <a:srgbClr val="E0B48A"/>
                </a:solidFill>
                <a:latin typeface="DM Sans" pitchFamily="34" charset="0"/>
                <a:ea typeface="DM Sans" pitchFamily="34" charset="-122"/>
                <a:cs typeface="DM Sans" pitchFamily="34" charset="-120"/>
              </a:rPr>
              <a:t>DATAQUEST 3.0 · TEAM TECHIEMECHIE</a:t>
            </a:r>
            <a:endParaRPr lang="en-US" sz="1400" dirty="0"/>
          </a:p>
        </p:txBody>
      </p:sp>
      <p:sp>
        <p:nvSpPr>
          <p:cNvPr id="6" name="Text 4"/>
          <p:cNvSpPr/>
          <p:nvPr>
            <p:ph type="title"/>
          </p:nvPr>
        </p:nvSpPr>
        <p:spPr>
          <a:xfrm>
            <a:off x="812800" y="1854518"/>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0" i="0" spc="-200" kern="0" dirty="0">
                <a:solidFill>
                  <a:srgbClr val="F7F1E8"/>
                </a:solidFill>
                <a:latin typeface="DM Serif Display" pitchFamily="18" charset="0"/>
                <a:ea typeface="DM Serif Display" pitchFamily="18" charset="-122"/>
                <a:cs typeface="DM Serif Display" pitchFamily="18" charset="-120"/>
              </a:rPr>
              <a:t>Nexus</a:t>
            </a:r>
            <a:endParaRPr lang="en-US" sz="12000" dirty="0"/>
          </a:p>
        </p:txBody>
      </p:sp>
      <p:sp>
        <p:nvSpPr>
          <p:cNvPr id="7" name="Text 5"/>
          <p:cNvSpPr/>
          <p:nvPr/>
        </p:nvSpPr>
        <p:spPr>
          <a:xfrm>
            <a:off x="812800" y="3607117"/>
            <a:ext cx="10883392" cy="528320"/>
          </a:xfrm>
          <a:prstGeom prst="rect">
            <a:avLst/>
          </a:prstGeom>
          <a:noFill/>
          <a:ln/>
        </p:spPr>
        <p:txBody>
          <a:bodyPr wrap="square" lIns="0" tIns="0" rIns="0" bIns="0" rtlCol="0" anchor="t">
            <a:normAutofit/>
          </a:bodyPr>
          <a:lstStyle/>
          <a:p>
            <a:pPr algn="l" indent="0" marL="0">
              <a:lnSpc>
                <a:spcPts val="3960"/>
              </a:lnSpc>
              <a:buNone/>
            </a:pPr>
            <a:r>
              <a:rPr lang="en-US" sz="3600" i="1" dirty="0">
                <a:solidFill>
                  <a:srgbClr val="E0B48A"/>
                </a:solidFill>
                <a:latin typeface="DM Serif Display" pitchFamily="18" charset="0"/>
                <a:ea typeface="DM Serif Display" pitchFamily="18" charset="-122"/>
                <a:cs typeface="DM Serif Display" pitchFamily="18" charset="-120"/>
              </a:rPr>
              <a:t>Find the leaks. Fuel the winners.</a:t>
            </a:r>
            <a:endParaRPr lang="en-US" sz="3600" dirty="0"/>
          </a:p>
        </p:txBody>
      </p:sp>
      <p:sp>
        <p:nvSpPr>
          <p:cNvPr id="8" name="Text 6"/>
          <p:cNvSpPr/>
          <p:nvPr/>
        </p:nvSpPr>
        <p:spPr>
          <a:xfrm>
            <a:off x="812800" y="4338638"/>
            <a:ext cx="7194550" cy="96456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D9C5B0"/>
                </a:solidFill>
                <a:latin typeface="DM Sans" pitchFamily="34" charset="0"/>
                <a:ea typeface="DM Sans" pitchFamily="34" charset="-122"/>
                <a:cs typeface="DM Sans" pitchFamily="34" charset="-120"/>
              </a:rPr>
              <a:t>The ad decision engine for D2C brands. It connects ads, sales and stock, spots what is wasting money, explains why, and tells you where to spend next.</a:t>
            </a:r>
            <a:endParaRPr lang="en-US" sz="1700" dirty="0"/>
          </a:p>
        </p:txBody>
      </p:sp>
      <p:sp>
        <p:nvSpPr>
          <p:cNvPr id="9" name="Text 7"/>
          <p:cNvSpPr/>
          <p:nvPr/>
        </p:nvSpPr>
        <p:spPr>
          <a:xfrm>
            <a:off x="812800" y="6238240"/>
            <a:ext cx="62625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5B0"/>
                </a:solidFill>
                <a:latin typeface="DM Sans" pitchFamily="34" charset="0"/>
                <a:ea typeface="DM Sans" pitchFamily="34" charset="-122"/>
                <a:cs typeface="DM Sans" pitchFamily="34" charset="-120"/>
              </a:rPr>
              <a:t>Vatsavaya Suhas Jagapathi Varma · Neha R Krishna · PG Pramukh · Parath S</a:t>
            </a:r>
            <a:endParaRPr lang="en-US" sz="1200" dirty="0"/>
          </a:p>
        </p:txBody>
      </p:sp>
      <p:sp>
        <p:nvSpPr>
          <p:cNvPr id="10" name="Text 8"/>
          <p:cNvSpPr/>
          <p:nvPr/>
        </p:nvSpPr>
        <p:spPr>
          <a:xfrm>
            <a:off x="8878729" y="6238240"/>
            <a:ext cx="30005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B48A"/>
                </a:solidFill>
                <a:latin typeface="DM Sans" pitchFamily="34" charset="0"/>
                <a:ea typeface="DM Sans" pitchFamily="34" charset="-122"/>
                <a:cs typeface="DM Sans" pitchFamily="34" charset="-120"/>
              </a:rPr>
              <a:t>techiemechiebetadq.up.railway.app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1E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8F542A"/>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8F542A"/>
                </a:solidFill>
                <a:latin typeface="DM Sans" pitchFamily="34" charset="0"/>
                <a:ea typeface="DM Sans" pitchFamily="34" charset="-122"/>
                <a:cs typeface="DM Sans" pitchFamily="34" charset="-120"/>
              </a:rPr>
              <a:t>THE PROBLEM</a:t>
            </a:r>
            <a:endParaRPr lang="en-US" sz="1300" dirty="0"/>
          </a:p>
        </p:txBody>
      </p:sp>
      <p:sp>
        <p:nvSpPr>
          <p:cNvPr id="4" name="Text 2"/>
          <p:cNvSpPr/>
          <p:nvPr>
            <p:ph type="title"/>
          </p:nvPr>
        </p:nvSpPr>
        <p:spPr>
          <a:xfrm>
            <a:off x="812800" y="114554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2E1B10"/>
                </a:solidFill>
                <a:latin typeface="DM Serif Display" pitchFamily="18" charset="0"/>
                <a:ea typeface="DM Serif Display" pitchFamily="18" charset="-122"/>
                <a:cs typeface="DM Serif Display" pitchFamily="18" charset="-120"/>
              </a:rPr>
              <a:t>Small online brands are making ad decisions in the dark</a:t>
            </a:r>
            <a:endParaRPr lang="en-US" sz="3600" dirty="0"/>
          </a:p>
        </p:txBody>
      </p:sp>
      <p:sp>
        <p:nvSpPr>
          <p:cNvPr id="5" name="Shape 3"/>
          <p:cNvSpPr/>
          <p:nvPr/>
        </p:nvSpPr>
        <p:spPr>
          <a:xfrm>
            <a:off x="815975" y="2459355"/>
            <a:ext cx="5175250" cy="1375410"/>
          </a:xfrm>
          <a:prstGeom prst="roundRect">
            <a:avLst>
              <a:gd name="adj" fmla="val 10849"/>
            </a:avLst>
          </a:prstGeom>
          <a:solidFill>
            <a:srgbClr val="FFFCF7"/>
          </a:solidFill>
          <a:ln w="6350">
            <a:solidFill>
              <a:srgbClr val="E3D2BC"/>
            </a:solidFill>
            <a:prstDash val="solid"/>
          </a:ln>
        </p:spPr>
      </p:sp>
      <p:sp>
        <p:nvSpPr>
          <p:cNvPr id="6" name="Text 4"/>
          <p:cNvSpPr/>
          <p:nvPr/>
        </p:nvSpPr>
        <p:spPr>
          <a:xfrm>
            <a:off x="1071880" y="2715260"/>
            <a:ext cx="4803343"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8F542A"/>
                </a:solidFill>
                <a:latin typeface="DM Serif Display" pitchFamily="18" charset="0"/>
                <a:ea typeface="DM Serif Display" pitchFamily="18" charset="-122"/>
                <a:cs typeface="DM Serif Display" pitchFamily="18" charset="-120"/>
              </a:rPr>
              <a:t>Scattered data</a:t>
            </a:r>
            <a:endParaRPr lang="en-US" sz="1900" dirty="0"/>
          </a:p>
        </p:txBody>
      </p:sp>
      <p:sp>
        <p:nvSpPr>
          <p:cNvPr id="7" name="Text 5"/>
          <p:cNvSpPr/>
          <p:nvPr/>
        </p:nvSpPr>
        <p:spPr>
          <a:xfrm>
            <a:off x="1071880" y="308102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637"/>
                </a:solidFill>
                <a:latin typeface="DM Sans" pitchFamily="34" charset="0"/>
                <a:ea typeface="DM Sans" pitchFamily="34" charset="-122"/>
                <a:cs typeface="DM Sans" pitchFamily="34" charset="-120"/>
              </a:rPr>
              <a:t>Instagram, Amazon, Flipkart, TikTok and the website each show their own numbers in their own place.</a:t>
            </a:r>
            <a:endParaRPr lang="en-US" sz="1400" dirty="0"/>
          </a:p>
        </p:txBody>
      </p:sp>
      <p:sp>
        <p:nvSpPr>
          <p:cNvPr id="8" name="Shape 6"/>
          <p:cNvSpPr/>
          <p:nvPr/>
        </p:nvSpPr>
        <p:spPr>
          <a:xfrm>
            <a:off x="6200775" y="2459355"/>
            <a:ext cx="5175250" cy="1375410"/>
          </a:xfrm>
          <a:prstGeom prst="roundRect">
            <a:avLst>
              <a:gd name="adj" fmla="val 10849"/>
            </a:avLst>
          </a:prstGeom>
          <a:solidFill>
            <a:srgbClr val="FFFCF7"/>
          </a:solidFill>
          <a:ln w="6350">
            <a:solidFill>
              <a:srgbClr val="E3D2BC"/>
            </a:solidFill>
            <a:prstDash val="solid"/>
          </a:ln>
        </p:spPr>
      </p:sp>
      <p:sp>
        <p:nvSpPr>
          <p:cNvPr id="9" name="Text 7"/>
          <p:cNvSpPr/>
          <p:nvPr/>
        </p:nvSpPr>
        <p:spPr>
          <a:xfrm>
            <a:off x="6456680" y="2715260"/>
            <a:ext cx="4803343"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8F542A"/>
                </a:solidFill>
                <a:latin typeface="DM Serif Display" pitchFamily="18" charset="0"/>
                <a:ea typeface="DM Serif Display" pitchFamily="18" charset="-122"/>
                <a:cs typeface="DM Serif Display" pitchFamily="18" charset="-120"/>
              </a:rPr>
              <a:t>Sales are not profit</a:t>
            </a:r>
            <a:endParaRPr lang="en-US" sz="1900" dirty="0"/>
          </a:p>
        </p:txBody>
      </p:sp>
      <p:sp>
        <p:nvSpPr>
          <p:cNvPr id="10" name="Text 8"/>
          <p:cNvSpPr/>
          <p:nvPr/>
        </p:nvSpPr>
        <p:spPr>
          <a:xfrm>
            <a:off x="6456680" y="308102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637"/>
                </a:solidFill>
                <a:latin typeface="DM Sans" pitchFamily="34" charset="0"/>
                <a:ea typeface="DM Sans" pitchFamily="34" charset="-122"/>
                <a:cs typeface="DM Sans" pitchFamily="34" charset="-120"/>
              </a:rPr>
              <a:t>Platforms report revenue and ROAS, not product cost, shipping, returns and fees. A winning ad can lose money.</a:t>
            </a:r>
            <a:endParaRPr lang="en-US" sz="1400" dirty="0"/>
          </a:p>
        </p:txBody>
      </p:sp>
      <p:sp>
        <p:nvSpPr>
          <p:cNvPr id="11" name="Shape 9"/>
          <p:cNvSpPr/>
          <p:nvPr/>
        </p:nvSpPr>
        <p:spPr>
          <a:xfrm>
            <a:off x="815975" y="4044315"/>
            <a:ext cx="5175250" cy="1375410"/>
          </a:xfrm>
          <a:prstGeom prst="roundRect">
            <a:avLst>
              <a:gd name="adj" fmla="val 10849"/>
            </a:avLst>
          </a:prstGeom>
          <a:solidFill>
            <a:srgbClr val="FFFCF7"/>
          </a:solidFill>
          <a:ln w="6350">
            <a:solidFill>
              <a:srgbClr val="E3D2BC"/>
            </a:solidFill>
            <a:prstDash val="solid"/>
          </a:ln>
        </p:spPr>
      </p:sp>
      <p:sp>
        <p:nvSpPr>
          <p:cNvPr id="12" name="Text 10"/>
          <p:cNvSpPr/>
          <p:nvPr/>
        </p:nvSpPr>
        <p:spPr>
          <a:xfrm>
            <a:off x="1071880" y="4300220"/>
            <a:ext cx="4803343"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8F542A"/>
                </a:solidFill>
                <a:latin typeface="DM Serif Display" pitchFamily="18" charset="0"/>
                <a:ea typeface="DM Serif Display" pitchFamily="18" charset="-122"/>
                <a:cs typeface="DM Serif Display" pitchFamily="18" charset="-120"/>
              </a:rPr>
              <a:t>Ads ignore stock</a:t>
            </a:r>
            <a:endParaRPr lang="en-US" sz="1900" dirty="0"/>
          </a:p>
        </p:txBody>
      </p:sp>
      <p:sp>
        <p:nvSpPr>
          <p:cNvPr id="13" name="Text 11"/>
          <p:cNvSpPr/>
          <p:nvPr/>
        </p:nvSpPr>
        <p:spPr>
          <a:xfrm>
            <a:off x="1071880" y="466598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637"/>
                </a:solidFill>
                <a:latin typeface="DM Sans" pitchFamily="34" charset="0"/>
                <a:ea typeface="DM Sans" pitchFamily="34" charset="-122"/>
                <a:cs typeface="DM Sans" pitchFamily="34" charset="-120"/>
              </a:rPr>
              <a:t>Ads keep spending on products that are about to sell out, wasting budget and risking platform penalties.</a:t>
            </a:r>
            <a:endParaRPr lang="en-US" sz="1400" dirty="0"/>
          </a:p>
        </p:txBody>
      </p:sp>
      <p:sp>
        <p:nvSpPr>
          <p:cNvPr id="14" name="Shape 12"/>
          <p:cNvSpPr/>
          <p:nvPr/>
        </p:nvSpPr>
        <p:spPr>
          <a:xfrm>
            <a:off x="6200775" y="4044315"/>
            <a:ext cx="5175250" cy="1375410"/>
          </a:xfrm>
          <a:prstGeom prst="roundRect">
            <a:avLst>
              <a:gd name="adj" fmla="val 10849"/>
            </a:avLst>
          </a:prstGeom>
          <a:solidFill>
            <a:srgbClr val="FFFCF7"/>
          </a:solidFill>
          <a:ln w="6350">
            <a:solidFill>
              <a:srgbClr val="E3D2BC"/>
            </a:solidFill>
            <a:prstDash val="solid"/>
          </a:ln>
        </p:spPr>
      </p:sp>
      <p:sp>
        <p:nvSpPr>
          <p:cNvPr id="15" name="Text 13"/>
          <p:cNvSpPr/>
          <p:nvPr/>
        </p:nvSpPr>
        <p:spPr>
          <a:xfrm>
            <a:off x="6456680" y="4300220"/>
            <a:ext cx="4803343"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8F542A"/>
                </a:solidFill>
                <a:latin typeface="DM Serif Display" pitchFamily="18" charset="0"/>
                <a:ea typeface="DM Serif Display" pitchFamily="18" charset="-122"/>
                <a:cs typeface="DM Serif Display" pitchFamily="18" charset="-120"/>
              </a:rPr>
              <a:t>No why, no next step</a:t>
            </a:r>
            <a:endParaRPr lang="en-US" sz="1900" dirty="0"/>
          </a:p>
        </p:txBody>
      </p:sp>
      <p:sp>
        <p:nvSpPr>
          <p:cNvPr id="16" name="Text 14"/>
          <p:cNvSpPr/>
          <p:nvPr/>
        </p:nvSpPr>
        <p:spPr>
          <a:xfrm>
            <a:off x="6456680" y="466598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637"/>
                </a:solidFill>
                <a:latin typeface="DM Sans" pitchFamily="34" charset="0"/>
                <a:ea typeface="DM Sans" pitchFamily="34" charset="-122"/>
                <a:cs typeface="DM Sans" pitchFamily="34" charset="-120"/>
              </a:rPr>
              <a:t>Dashboards say what happened, never why or what to do. Owners cannot afford analysts.</a:t>
            </a:r>
            <a:endParaRPr lang="en-US" sz="1400" dirty="0"/>
          </a:p>
        </p:txBody>
      </p:sp>
      <p:sp>
        <p:nvSpPr>
          <p:cNvPr id="17" name="Text 15"/>
          <p:cNvSpPr/>
          <p:nvPr/>
        </p:nvSpPr>
        <p:spPr>
          <a:xfrm>
            <a:off x="812800" y="6238241"/>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Nexus · TechieMechie</a:t>
            </a:r>
            <a:endParaRPr lang="en-US" sz="1200" dirty="0"/>
          </a:p>
        </p:txBody>
      </p:sp>
      <p:sp>
        <p:nvSpPr>
          <p:cNvPr id="18" name="Text 16"/>
          <p:cNvSpPr/>
          <p:nvPr/>
        </p:nvSpPr>
        <p:spPr>
          <a:xfrm>
            <a:off x="10847864" y="6238241"/>
            <a:ext cx="6376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02 / 09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DBC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7A4624"/>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7A4624"/>
                </a:solidFill>
                <a:latin typeface="DM Sans" pitchFamily="34" charset="0"/>
                <a:ea typeface="DM Sans" pitchFamily="34" charset="-122"/>
                <a:cs typeface="DM Sans" pitchFamily="34" charset="-120"/>
              </a:rPr>
              <a:t>OUR SOLUTION</a:t>
            </a:r>
            <a:endParaRPr lang="en-US" sz="1300" dirty="0"/>
          </a:p>
        </p:txBody>
      </p:sp>
      <p:sp>
        <p:nvSpPr>
          <p:cNvPr id="4" name="Text 2"/>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2E1B10"/>
                </a:solidFill>
                <a:latin typeface="DM Serif Display" pitchFamily="18" charset="0"/>
                <a:ea typeface="DM Serif Display" pitchFamily="18" charset="-122"/>
                <a:cs typeface="DM Serif Display" pitchFamily="18" charset="-120"/>
              </a:rPr>
              <a:t>One clear decision from scattered numbers</a:t>
            </a:r>
            <a:endParaRPr lang="en-US" sz="3600" dirty="0"/>
          </a:p>
        </p:txBody>
      </p:sp>
      <p:sp>
        <p:nvSpPr>
          <p:cNvPr id="5" name="Shape 3"/>
          <p:cNvSpPr/>
          <p:nvPr/>
        </p:nvSpPr>
        <p:spPr>
          <a:xfrm>
            <a:off x="815975" y="2007236"/>
            <a:ext cx="2482850" cy="2406650"/>
          </a:xfrm>
          <a:prstGeom prst="roundRect">
            <a:avLst>
              <a:gd name="adj" fmla="val 6201"/>
            </a:avLst>
          </a:prstGeom>
          <a:solidFill>
            <a:srgbClr val="FFFCF7"/>
          </a:solidFill>
          <a:ln w="6350">
            <a:solidFill>
              <a:srgbClr val="D9C4A8"/>
            </a:solidFill>
            <a:prstDash val="solid"/>
          </a:ln>
        </p:spPr>
      </p:sp>
      <p:pic>
        <p:nvPicPr>
          <p:cNvPr id="6" name="Image 0" descr="Globe">    </p:cNvPr>
          <p:cNvPicPr>
            <a:picLocks noChangeAspect="1"/>
          </p:cNvPicPr>
          <p:nvPr/>
        </p:nvPicPr>
        <p:blipFill>
          <a:blip r:embed="rId1"/>
          <a:srcRect l="0" r="0" t="0" b="0"/>
          <a:stretch/>
        </p:blipFill>
        <p:spPr>
          <a:xfrm>
            <a:off x="1071880" y="2263141"/>
            <a:ext cx="355600" cy="355600"/>
          </a:xfrm>
          <a:prstGeom prst="rect">
            <a:avLst/>
          </a:prstGeom>
        </p:spPr>
      </p:pic>
      <p:sp>
        <p:nvSpPr>
          <p:cNvPr id="7" name="Text 4"/>
          <p:cNvSpPr/>
          <p:nvPr/>
        </p:nvSpPr>
        <p:spPr>
          <a:xfrm>
            <a:off x="1071880" y="2745741"/>
            <a:ext cx="2030171"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One unified view</a:t>
            </a:r>
            <a:endParaRPr lang="en-US" sz="1900" dirty="0"/>
          </a:p>
        </p:txBody>
      </p:sp>
      <p:sp>
        <p:nvSpPr>
          <p:cNvPr id="8" name="Text 5"/>
          <p:cNvSpPr/>
          <p:nvPr/>
        </p:nvSpPr>
        <p:spPr>
          <a:xfrm>
            <a:off x="1071880" y="316230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392A"/>
                </a:solidFill>
                <a:latin typeface="DM Sans" pitchFamily="34" charset="0"/>
                <a:ea typeface="DM Sans" pitchFamily="34" charset="-122"/>
                <a:cs typeface="DM Sans" pitchFamily="34" charset="-120"/>
              </a:rPr>
              <a:t>Ads, sales, stock and margins from every channel in one dashboard.</a:t>
            </a:r>
            <a:endParaRPr lang="en-US" sz="1400" dirty="0"/>
          </a:p>
        </p:txBody>
      </p:sp>
      <p:sp>
        <p:nvSpPr>
          <p:cNvPr id="9" name="Shape 6"/>
          <p:cNvSpPr/>
          <p:nvPr/>
        </p:nvSpPr>
        <p:spPr>
          <a:xfrm>
            <a:off x="3508375" y="2007236"/>
            <a:ext cx="2482850" cy="2406650"/>
          </a:xfrm>
          <a:prstGeom prst="roundRect">
            <a:avLst>
              <a:gd name="adj" fmla="val 6201"/>
            </a:avLst>
          </a:prstGeom>
          <a:solidFill>
            <a:srgbClr val="FFFCF7"/>
          </a:solidFill>
          <a:ln w="6350">
            <a:solidFill>
              <a:srgbClr val="D9C4A8"/>
            </a:solidFill>
            <a:prstDash val="solid"/>
          </a:ln>
        </p:spPr>
      </p:sp>
      <p:pic>
        <p:nvPicPr>
          <p:cNvPr id="10" name="Image 1" descr="Chart">    </p:cNvPr>
          <p:cNvPicPr>
            <a:picLocks noChangeAspect="1"/>
          </p:cNvPicPr>
          <p:nvPr/>
        </p:nvPicPr>
        <p:blipFill>
          <a:blip r:embed="rId2"/>
          <a:srcRect l="0" r="0" t="0" b="0"/>
          <a:stretch/>
        </p:blipFill>
        <p:spPr>
          <a:xfrm>
            <a:off x="3764280" y="2263141"/>
            <a:ext cx="355600" cy="355600"/>
          </a:xfrm>
          <a:prstGeom prst="rect">
            <a:avLst/>
          </a:prstGeom>
        </p:spPr>
      </p:pic>
      <p:sp>
        <p:nvSpPr>
          <p:cNvPr id="11" name="Text 7"/>
          <p:cNvSpPr/>
          <p:nvPr/>
        </p:nvSpPr>
        <p:spPr>
          <a:xfrm>
            <a:off x="3764280" y="2745741"/>
            <a:ext cx="2030171"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Real profit</a:t>
            </a:r>
            <a:endParaRPr lang="en-US" sz="1900" dirty="0"/>
          </a:p>
        </p:txBody>
      </p:sp>
      <p:sp>
        <p:nvSpPr>
          <p:cNvPr id="12" name="Text 8"/>
          <p:cNvSpPr/>
          <p:nvPr/>
        </p:nvSpPr>
        <p:spPr>
          <a:xfrm>
            <a:off x="3764280" y="316230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392A"/>
                </a:solidFill>
                <a:latin typeface="DM Sans" pitchFamily="34" charset="0"/>
                <a:ea typeface="DM Sans" pitchFamily="34" charset="-122"/>
                <a:cs typeface="DM Sans" pitchFamily="34" charset="-120"/>
              </a:rPr>
              <a:t>Profit for every ₹1 spent on ads. Above 1.00 means you make money.</a:t>
            </a:r>
            <a:endParaRPr lang="en-US" sz="1400" dirty="0"/>
          </a:p>
        </p:txBody>
      </p:sp>
      <p:sp>
        <p:nvSpPr>
          <p:cNvPr id="13" name="Shape 9"/>
          <p:cNvSpPr/>
          <p:nvPr/>
        </p:nvSpPr>
        <p:spPr>
          <a:xfrm>
            <a:off x="6200775" y="2007236"/>
            <a:ext cx="2482850" cy="2406650"/>
          </a:xfrm>
          <a:prstGeom prst="roundRect">
            <a:avLst>
              <a:gd name="adj" fmla="val 6201"/>
            </a:avLst>
          </a:prstGeom>
          <a:solidFill>
            <a:srgbClr val="FFFCF7"/>
          </a:solidFill>
          <a:ln w="6350">
            <a:solidFill>
              <a:srgbClr val="D9C4A8"/>
            </a:solidFill>
            <a:prstDash val="solid"/>
          </a:ln>
        </p:spPr>
      </p:sp>
      <p:pic>
        <p:nvPicPr>
          <p:cNvPr id="14" name="Image 2" descr="Lightbulb">    </p:cNvPr>
          <p:cNvPicPr>
            <a:picLocks noChangeAspect="1"/>
          </p:cNvPicPr>
          <p:nvPr/>
        </p:nvPicPr>
        <p:blipFill>
          <a:blip r:embed="rId3"/>
          <a:srcRect l="0" r="0" t="0" b="0"/>
          <a:stretch/>
        </p:blipFill>
        <p:spPr>
          <a:xfrm>
            <a:off x="6456680" y="2263141"/>
            <a:ext cx="355600" cy="355600"/>
          </a:xfrm>
          <a:prstGeom prst="rect">
            <a:avLst/>
          </a:prstGeom>
        </p:spPr>
      </p:pic>
      <p:sp>
        <p:nvSpPr>
          <p:cNvPr id="15" name="Text 10"/>
          <p:cNvSpPr/>
          <p:nvPr/>
        </p:nvSpPr>
        <p:spPr>
          <a:xfrm>
            <a:off x="6456680" y="2745741"/>
            <a:ext cx="2030171"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Plain-English why</a:t>
            </a:r>
            <a:endParaRPr lang="en-US" sz="1900" dirty="0"/>
          </a:p>
        </p:txBody>
      </p:sp>
      <p:sp>
        <p:nvSpPr>
          <p:cNvPr id="16" name="Text 11"/>
          <p:cNvSpPr/>
          <p:nvPr/>
        </p:nvSpPr>
        <p:spPr>
          <a:xfrm>
            <a:off x="6456680" y="316230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392A"/>
                </a:solidFill>
                <a:latin typeface="DM Sans" pitchFamily="34" charset="0"/>
                <a:ea typeface="DM Sans" pitchFamily="34" charset="-122"/>
                <a:cs typeface="DM Sans" pitchFamily="34" charset="-120"/>
              </a:rPr>
              <a:t>Root causes explained for a shop owner, not a data analyst.</a:t>
            </a:r>
            <a:endParaRPr lang="en-US" sz="1400" dirty="0"/>
          </a:p>
        </p:txBody>
      </p:sp>
      <p:sp>
        <p:nvSpPr>
          <p:cNvPr id="17" name="Shape 12"/>
          <p:cNvSpPr/>
          <p:nvPr/>
        </p:nvSpPr>
        <p:spPr>
          <a:xfrm>
            <a:off x="8893175" y="2007236"/>
            <a:ext cx="2482850" cy="2406650"/>
          </a:xfrm>
          <a:prstGeom prst="roundRect">
            <a:avLst>
              <a:gd name="adj" fmla="val 6201"/>
            </a:avLst>
          </a:prstGeom>
          <a:solidFill>
            <a:srgbClr val="FFFCF7"/>
          </a:solidFill>
          <a:ln w="6350">
            <a:solidFill>
              <a:srgbClr val="D9C4A8"/>
            </a:solidFill>
            <a:prstDash val="solid"/>
          </a:ln>
        </p:spPr>
      </p:sp>
      <p:pic>
        <p:nvPicPr>
          <p:cNvPr id="18" name="Image 3" descr="CheckCircle">    </p:cNvPr>
          <p:cNvPicPr>
            <a:picLocks noChangeAspect="1"/>
          </p:cNvPicPr>
          <p:nvPr/>
        </p:nvPicPr>
        <p:blipFill>
          <a:blip r:embed="rId4"/>
          <a:srcRect l="0" r="0" t="0" b="0"/>
          <a:stretch/>
        </p:blipFill>
        <p:spPr>
          <a:xfrm>
            <a:off x="9149080" y="2263141"/>
            <a:ext cx="355600" cy="355600"/>
          </a:xfrm>
          <a:prstGeom prst="rect">
            <a:avLst/>
          </a:prstGeom>
        </p:spPr>
      </p:pic>
      <p:sp>
        <p:nvSpPr>
          <p:cNvPr id="19" name="Text 13"/>
          <p:cNvSpPr/>
          <p:nvPr/>
        </p:nvSpPr>
        <p:spPr>
          <a:xfrm>
            <a:off x="9149080" y="2745741"/>
            <a:ext cx="2030171"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You approve</a:t>
            </a:r>
            <a:endParaRPr lang="en-US" sz="1900" dirty="0"/>
          </a:p>
        </p:txBody>
      </p:sp>
      <p:sp>
        <p:nvSpPr>
          <p:cNvPr id="20" name="Text 14"/>
          <p:cNvSpPr/>
          <p:nvPr/>
        </p:nvSpPr>
        <p:spPr>
          <a:xfrm>
            <a:off x="9149080" y="316230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392A"/>
                </a:solidFill>
                <a:latin typeface="DM Sans" pitchFamily="34" charset="0"/>
                <a:ea typeface="DM Sans" pitchFamily="34" charset="-122"/>
                <a:cs typeface="DM Sans" pitchFamily="34" charset="-120"/>
              </a:rPr>
              <a:t>Ranked actions by expected profit. Nothing happens until you say yes.</a:t>
            </a:r>
            <a:endParaRPr lang="en-US" sz="1400" dirty="0"/>
          </a:p>
        </p:txBody>
      </p:sp>
      <p:sp>
        <p:nvSpPr>
          <p:cNvPr id="21" name="Text 15"/>
          <p:cNvSpPr/>
          <p:nvPr/>
        </p:nvSpPr>
        <p:spPr>
          <a:xfrm>
            <a:off x="812800" y="6238241"/>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392A"/>
                </a:solidFill>
                <a:latin typeface="DM Sans" pitchFamily="34" charset="0"/>
                <a:ea typeface="DM Sans" pitchFamily="34" charset="-122"/>
                <a:cs typeface="DM Sans" pitchFamily="34" charset="-120"/>
              </a:rPr>
              <a:t>Nexus · TechieMechie</a:t>
            </a:r>
            <a:endParaRPr lang="en-US" sz="1200" dirty="0"/>
          </a:p>
        </p:txBody>
      </p:sp>
      <p:sp>
        <p:nvSpPr>
          <p:cNvPr id="22" name="Text 16"/>
          <p:cNvSpPr/>
          <p:nvPr/>
        </p:nvSpPr>
        <p:spPr>
          <a:xfrm>
            <a:off x="10844054" y="6238241"/>
            <a:ext cx="6421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392A"/>
                </a:solidFill>
                <a:latin typeface="DM Sans" pitchFamily="34" charset="0"/>
                <a:ea typeface="DM Sans" pitchFamily="34" charset="-122"/>
                <a:cs typeface="DM Sans" pitchFamily="34" charset="-120"/>
              </a:rPr>
              <a:t>03 / 09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A241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E0B48A"/>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E0B48A"/>
                </a:solidFill>
                <a:latin typeface="DM Sans" pitchFamily="34" charset="0"/>
                <a:ea typeface="DM Sans" pitchFamily="34" charset="-122"/>
                <a:cs typeface="DM Sans" pitchFamily="34" charset="-120"/>
              </a:rPr>
              <a:t>WHAT NEXUS CATCHES</a:t>
            </a:r>
            <a:endParaRPr lang="en-US" sz="1300" dirty="0"/>
          </a:p>
        </p:txBody>
      </p:sp>
      <p:sp>
        <p:nvSpPr>
          <p:cNvPr id="4" name="Text 2"/>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1E8"/>
                </a:solidFill>
                <a:latin typeface="DM Serif Display" pitchFamily="18" charset="0"/>
                <a:ea typeface="DM Serif Display" pitchFamily="18" charset="-122"/>
                <a:cs typeface="DM Serif Display" pitchFamily="18" charset="-120"/>
              </a:rPr>
              <a:t>Three problems that quietly drain budget</a:t>
            </a:r>
            <a:endParaRPr lang="en-US" sz="3600" dirty="0"/>
          </a:p>
        </p:txBody>
      </p:sp>
      <p:sp>
        <p:nvSpPr>
          <p:cNvPr id="5" name="Shape 3"/>
          <p:cNvSpPr/>
          <p:nvPr/>
        </p:nvSpPr>
        <p:spPr>
          <a:xfrm>
            <a:off x="815975" y="2007236"/>
            <a:ext cx="3380264" cy="2660650"/>
          </a:xfrm>
          <a:prstGeom prst="roundRect">
            <a:avLst>
              <a:gd name="adj" fmla="val 5609"/>
            </a:avLst>
          </a:prstGeom>
          <a:solidFill>
            <a:srgbClr val="4A2F20"/>
          </a:solidFill>
          <a:ln w="6350">
            <a:solidFill>
              <a:srgbClr val="6A4630"/>
            </a:solidFill>
            <a:prstDash val="solid"/>
          </a:ln>
        </p:spPr>
      </p:sp>
      <p:sp>
        <p:nvSpPr>
          <p:cNvPr id="6" name="Text 4"/>
          <p:cNvSpPr/>
          <p:nvPr/>
        </p:nvSpPr>
        <p:spPr>
          <a:xfrm>
            <a:off x="1071880" y="2263141"/>
            <a:ext cx="2954507"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E0B48A"/>
                </a:solidFill>
                <a:latin typeface="DM Serif Display" pitchFamily="18" charset="0"/>
                <a:ea typeface="DM Serif Display" pitchFamily="18" charset="-122"/>
                <a:cs typeface="DM Serif Display" pitchFamily="18" charset="-120"/>
              </a:rPr>
              <a:t>−50%</a:t>
            </a:r>
            <a:endParaRPr lang="en-US" sz="5200" dirty="0"/>
          </a:p>
        </p:txBody>
      </p:sp>
      <p:sp>
        <p:nvSpPr>
          <p:cNvPr id="7" name="Text 5"/>
          <p:cNvSpPr/>
          <p:nvPr/>
        </p:nvSpPr>
        <p:spPr>
          <a:xfrm>
            <a:off x="1071880" y="3025141"/>
            <a:ext cx="2954507"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F7F1E8"/>
                </a:solidFill>
                <a:latin typeface="DM Serif Display" pitchFamily="18" charset="0"/>
                <a:ea typeface="DM Serif Display" pitchFamily="18" charset="-122"/>
                <a:cs typeface="DM Serif Display" pitchFamily="18" charset="-120"/>
              </a:rPr>
              <a:t>Ad fatigue</a:t>
            </a:r>
            <a:endParaRPr lang="en-US" sz="1900" dirty="0"/>
          </a:p>
        </p:txBody>
      </p:sp>
      <p:sp>
        <p:nvSpPr>
          <p:cNvPr id="8" name="Text 6"/>
          <p:cNvSpPr/>
          <p:nvPr/>
        </p:nvSpPr>
        <p:spPr>
          <a:xfrm>
            <a:off x="1071880" y="3416300"/>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C5B0"/>
                </a:solidFill>
                <a:latin typeface="DM Sans" pitchFamily="34" charset="0"/>
                <a:ea typeface="DM Sans" pitchFamily="34" charset="-122"/>
                <a:cs typeface="DM Sans" pitchFamily="34" charset="-120"/>
              </a:rPr>
              <a:t>People see the same ad too often and stop clicking. Nexus scores how tired each ad is and warns you before more money is wasted.</a:t>
            </a:r>
            <a:endParaRPr lang="en-US" sz="1400" dirty="0"/>
          </a:p>
        </p:txBody>
      </p:sp>
      <p:sp>
        <p:nvSpPr>
          <p:cNvPr id="9" name="Shape 7"/>
          <p:cNvSpPr/>
          <p:nvPr/>
        </p:nvSpPr>
        <p:spPr>
          <a:xfrm>
            <a:off x="4405789" y="2007236"/>
            <a:ext cx="3380343" cy="2660650"/>
          </a:xfrm>
          <a:prstGeom prst="roundRect">
            <a:avLst>
              <a:gd name="adj" fmla="val 5609"/>
            </a:avLst>
          </a:prstGeom>
          <a:solidFill>
            <a:srgbClr val="4A2F20"/>
          </a:solidFill>
          <a:ln w="6350">
            <a:solidFill>
              <a:srgbClr val="6A4630"/>
            </a:solidFill>
            <a:prstDash val="solid"/>
          </a:ln>
        </p:spPr>
      </p:sp>
      <p:sp>
        <p:nvSpPr>
          <p:cNvPr id="10" name="Text 8"/>
          <p:cNvSpPr/>
          <p:nvPr/>
        </p:nvSpPr>
        <p:spPr>
          <a:xfrm>
            <a:off x="4661694" y="2263141"/>
            <a:ext cx="2954589"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E0B48A"/>
                </a:solidFill>
                <a:latin typeface="DM Serif Display" pitchFamily="18" charset="0"/>
                <a:ea typeface="DM Serif Display" pitchFamily="18" charset="-122"/>
                <a:cs typeface="DM Serif Display" pitchFamily="18" charset="-120"/>
              </a:rPr>
              <a:t>10 days</a:t>
            </a:r>
            <a:endParaRPr lang="en-US" sz="5200" dirty="0"/>
          </a:p>
        </p:txBody>
      </p:sp>
      <p:sp>
        <p:nvSpPr>
          <p:cNvPr id="11" name="Text 9"/>
          <p:cNvSpPr/>
          <p:nvPr/>
        </p:nvSpPr>
        <p:spPr>
          <a:xfrm>
            <a:off x="4661694" y="3025141"/>
            <a:ext cx="2954589"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F7F1E8"/>
                </a:solidFill>
                <a:latin typeface="DM Serif Display" pitchFamily="18" charset="0"/>
                <a:ea typeface="DM Serif Display" pitchFamily="18" charset="-122"/>
                <a:cs typeface="DM Serif Display" pitchFamily="18" charset="-120"/>
              </a:rPr>
              <a:t>Stockout guard</a:t>
            </a:r>
            <a:endParaRPr lang="en-US" sz="1900" dirty="0"/>
          </a:p>
        </p:txBody>
      </p:sp>
      <p:sp>
        <p:nvSpPr>
          <p:cNvPr id="12" name="Text 10"/>
          <p:cNvSpPr/>
          <p:nvPr/>
        </p:nvSpPr>
        <p:spPr>
          <a:xfrm>
            <a:off x="4661694" y="3416300"/>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C5B0"/>
                </a:solidFill>
                <a:latin typeface="DM Sans" pitchFamily="34" charset="0"/>
                <a:ea typeface="DM Sans" pitchFamily="34" charset="-122"/>
                <a:cs typeface="DM Sans" pitchFamily="34" charset="-120"/>
              </a:rPr>
              <a:t>Ads running on an empty shelf. Nexus tracks days of stock left and suggests pausing the ad until you restock.</a:t>
            </a:r>
            <a:endParaRPr lang="en-US" sz="1400" dirty="0"/>
          </a:p>
        </p:txBody>
      </p:sp>
      <p:sp>
        <p:nvSpPr>
          <p:cNvPr id="13" name="Shape 11"/>
          <p:cNvSpPr/>
          <p:nvPr/>
        </p:nvSpPr>
        <p:spPr>
          <a:xfrm>
            <a:off x="7995682" y="2007236"/>
            <a:ext cx="3380343" cy="2660650"/>
          </a:xfrm>
          <a:prstGeom prst="roundRect">
            <a:avLst>
              <a:gd name="adj" fmla="val 5609"/>
            </a:avLst>
          </a:prstGeom>
          <a:solidFill>
            <a:srgbClr val="4A2F20"/>
          </a:solidFill>
          <a:ln w="6350">
            <a:solidFill>
              <a:srgbClr val="6A4630"/>
            </a:solidFill>
            <a:prstDash val="solid"/>
          </a:ln>
        </p:spPr>
      </p:sp>
      <p:sp>
        <p:nvSpPr>
          <p:cNvPr id="14" name="Text 12"/>
          <p:cNvSpPr/>
          <p:nvPr/>
        </p:nvSpPr>
        <p:spPr>
          <a:xfrm>
            <a:off x="8251587" y="2263141"/>
            <a:ext cx="2954589"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E0B48A"/>
                </a:solidFill>
                <a:latin typeface="DM Serif Display" pitchFamily="18" charset="0"/>
                <a:ea typeface="DM Serif Display" pitchFamily="18" charset="-122"/>
                <a:cs typeface="DM Serif Display" pitchFamily="18" charset="-120"/>
              </a:rPr>
              <a:t>3.8x</a:t>
            </a:r>
            <a:endParaRPr lang="en-US" sz="5200" dirty="0"/>
          </a:p>
        </p:txBody>
      </p:sp>
      <p:sp>
        <p:nvSpPr>
          <p:cNvPr id="15" name="Text 13"/>
          <p:cNvSpPr/>
          <p:nvPr/>
        </p:nvSpPr>
        <p:spPr>
          <a:xfrm>
            <a:off x="8251587" y="3025141"/>
            <a:ext cx="2954589"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F7F1E8"/>
                </a:solidFill>
                <a:latin typeface="DM Serif Display" pitchFamily="18" charset="0"/>
                <a:ea typeface="DM Serif Display" pitchFamily="18" charset="-122"/>
                <a:cs typeface="DM Serif Display" pitchFamily="18" charset="-120"/>
              </a:rPr>
              <a:t>Revenue is not profit</a:t>
            </a:r>
            <a:endParaRPr lang="en-US" sz="1900" dirty="0"/>
          </a:p>
        </p:txBody>
      </p:sp>
      <p:sp>
        <p:nvSpPr>
          <p:cNvPr id="16" name="Text 14"/>
          <p:cNvSpPr/>
          <p:nvPr/>
        </p:nvSpPr>
        <p:spPr>
          <a:xfrm>
            <a:off x="8251587" y="3416300"/>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C5B0"/>
                </a:solidFill>
                <a:latin typeface="DM Sans" pitchFamily="34" charset="0"/>
                <a:ea typeface="DM Sans" pitchFamily="34" charset="-122"/>
                <a:cs typeface="DM Sans" pitchFamily="34" charset="-120"/>
              </a:rPr>
              <a:t>A strong ROAS on a product that still loses money. Nexus shows true profit after cost, shipping, returns and fees.</a:t>
            </a:r>
            <a:endParaRPr lang="en-US" sz="1400" dirty="0"/>
          </a:p>
        </p:txBody>
      </p:sp>
      <p:sp>
        <p:nvSpPr>
          <p:cNvPr id="17" name="Text 15"/>
          <p:cNvSpPr/>
          <p:nvPr/>
        </p:nvSpPr>
        <p:spPr>
          <a:xfrm>
            <a:off x="812800" y="6238239"/>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5B0"/>
                </a:solidFill>
                <a:latin typeface="DM Sans" pitchFamily="34" charset="0"/>
                <a:ea typeface="DM Sans" pitchFamily="34" charset="-122"/>
                <a:cs typeface="DM Sans" pitchFamily="34" charset="-120"/>
              </a:rPr>
              <a:t>Nexus · TechieMechie</a:t>
            </a:r>
            <a:endParaRPr lang="en-US" sz="1200" dirty="0"/>
          </a:p>
        </p:txBody>
      </p:sp>
      <p:sp>
        <p:nvSpPr>
          <p:cNvPr id="18" name="Text 16"/>
          <p:cNvSpPr/>
          <p:nvPr/>
        </p:nvSpPr>
        <p:spPr>
          <a:xfrm>
            <a:off x="10841672" y="6238239"/>
            <a:ext cx="645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5B0"/>
                </a:solidFill>
                <a:latin typeface="DM Sans" pitchFamily="34" charset="0"/>
                <a:ea typeface="DM Sans" pitchFamily="34" charset="-122"/>
                <a:cs typeface="DM Sans" pitchFamily="34" charset="-120"/>
              </a:rPr>
              <a:t>04 / 09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1E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8F542A"/>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8F542A"/>
                </a:solidFill>
                <a:latin typeface="DM Sans" pitchFamily="34" charset="0"/>
                <a:ea typeface="DM Sans" pitchFamily="34" charset="-122"/>
                <a:cs typeface="DM Sans" pitchFamily="34" charset="-120"/>
              </a:rPr>
              <a:t>INSIDE THE PRODUCT</a:t>
            </a:r>
            <a:endParaRPr lang="en-US" sz="1300" dirty="0"/>
          </a:p>
        </p:txBody>
      </p:sp>
      <p:sp>
        <p:nvSpPr>
          <p:cNvPr id="4" name="Text 2"/>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2E1B10"/>
                </a:solidFill>
                <a:latin typeface="DM Serif Display" pitchFamily="18" charset="0"/>
                <a:ea typeface="DM Serif Display" pitchFamily="18" charset="-122"/>
                <a:cs typeface="DM Serif Display" pitchFamily="18" charset="-120"/>
              </a:rPr>
              <a:t>A command center for a D2C brand</a:t>
            </a:r>
            <a:endParaRPr lang="en-US" sz="3600" dirty="0"/>
          </a:p>
        </p:txBody>
      </p:sp>
      <p:sp>
        <p:nvSpPr>
          <p:cNvPr id="5" name="Shape 3"/>
          <p:cNvSpPr/>
          <p:nvPr/>
        </p:nvSpPr>
        <p:spPr>
          <a:xfrm>
            <a:off x="815975" y="1956436"/>
            <a:ext cx="3380264" cy="2559050"/>
          </a:xfrm>
          <a:prstGeom prst="roundRect">
            <a:avLst>
              <a:gd name="adj" fmla="val 5831"/>
            </a:avLst>
          </a:prstGeom>
          <a:solidFill>
            <a:srgbClr val="FFFCF7"/>
          </a:solidFill>
          <a:ln w="6350">
            <a:solidFill>
              <a:srgbClr val="E3D2BC"/>
            </a:solidFill>
            <a:prstDash val="solid"/>
          </a:ln>
        </p:spPr>
      </p:sp>
      <p:sp>
        <p:nvSpPr>
          <p:cNvPr id="6" name="Text 4"/>
          <p:cNvSpPr/>
          <p:nvPr/>
        </p:nvSpPr>
        <p:spPr>
          <a:xfrm>
            <a:off x="1071880" y="2212339"/>
            <a:ext cx="2954507"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8F542A"/>
                </a:solidFill>
                <a:latin typeface="DM Serif Display" pitchFamily="18" charset="0"/>
                <a:ea typeface="DM Serif Display" pitchFamily="18" charset="-122"/>
                <a:cs typeface="DM Serif Display" pitchFamily="18" charset="-120"/>
              </a:rPr>
              <a:t>Insights</a:t>
            </a:r>
            <a:endParaRPr lang="en-US" sz="2100" dirty="0"/>
          </a:p>
        </p:txBody>
      </p:sp>
      <p:sp>
        <p:nvSpPr>
          <p:cNvPr id="7" name="Text 5"/>
          <p:cNvSpPr/>
          <p:nvPr/>
        </p:nvSpPr>
        <p:spPr>
          <a:xfrm>
            <a:off x="1156462" y="2659382"/>
            <a:ext cx="286230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Overview with AI tip and alerts</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Problems to Watch</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Profit Check</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Platform Analysis</a:t>
            </a:r>
            <a:endParaRPr lang="en-US" sz="1400" dirty="0"/>
          </a:p>
        </p:txBody>
      </p:sp>
      <p:sp>
        <p:nvSpPr>
          <p:cNvPr id="8" name="Shape 6"/>
          <p:cNvSpPr/>
          <p:nvPr/>
        </p:nvSpPr>
        <p:spPr>
          <a:xfrm>
            <a:off x="4405789" y="1956436"/>
            <a:ext cx="3380343" cy="2559050"/>
          </a:xfrm>
          <a:prstGeom prst="roundRect">
            <a:avLst>
              <a:gd name="adj" fmla="val 5831"/>
            </a:avLst>
          </a:prstGeom>
          <a:solidFill>
            <a:srgbClr val="FFFCF7"/>
          </a:solidFill>
          <a:ln w="6350">
            <a:solidFill>
              <a:srgbClr val="E3D2BC"/>
            </a:solidFill>
            <a:prstDash val="solid"/>
          </a:ln>
        </p:spPr>
      </p:sp>
      <p:sp>
        <p:nvSpPr>
          <p:cNvPr id="9" name="Text 7"/>
          <p:cNvSpPr/>
          <p:nvPr/>
        </p:nvSpPr>
        <p:spPr>
          <a:xfrm>
            <a:off x="4661694" y="2212339"/>
            <a:ext cx="2954589"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8F542A"/>
                </a:solidFill>
                <a:latin typeface="DM Serif Display" pitchFamily="18" charset="0"/>
                <a:ea typeface="DM Serif Display" pitchFamily="18" charset="-122"/>
                <a:cs typeface="DM Serif Display" pitchFamily="18" charset="-120"/>
              </a:rPr>
              <a:t>Manage</a:t>
            </a:r>
            <a:endParaRPr lang="en-US" sz="2100" dirty="0"/>
          </a:p>
        </p:txBody>
      </p:sp>
      <p:sp>
        <p:nvSpPr>
          <p:cNvPr id="10" name="Text 8"/>
          <p:cNvSpPr/>
          <p:nvPr/>
        </p:nvSpPr>
        <p:spPr>
          <a:xfrm>
            <a:off x="4746276" y="2659382"/>
            <a:ext cx="2862387"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Products: price, cost, stock</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Inventory with one-click restock</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Ads: start, pause, set budget</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Post new ads with picture or video</a:t>
            </a:r>
            <a:endParaRPr lang="en-US" sz="1400" dirty="0"/>
          </a:p>
        </p:txBody>
      </p:sp>
      <p:sp>
        <p:nvSpPr>
          <p:cNvPr id="11" name="Shape 9"/>
          <p:cNvSpPr/>
          <p:nvPr/>
        </p:nvSpPr>
        <p:spPr>
          <a:xfrm>
            <a:off x="7995682" y="1956436"/>
            <a:ext cx="3380343" cy="2559050"/>
          </a:xfrm>
          <a:prstGeom prst="roundRect">
            <a:avLst>
              <a:gd name="adj" fmla="val 5831"/>
            </a:avLst>
          </a:prstGeom>
          <a:solidFill>
            <a:srgbClr val="FFFCF7"/>
          </a:solidFill>
          <a:ln w="6350">
            <a:solidFill>
              <a:srgbClr val="E3D2BC"/>
            </a:solidFill>
            <a:prstDash val="solid"/>
          </a:ln>
        </p:spPr>
      </p:sp>
      <p:sp>
        <p:nvSpPr>
          <p:cNvPr id="12" name="Text 10"/>
          <p:cNvSpPr/>
          <p:nvPr/>
        </p:nvSpPr>
        <p:spPr>
          <a:xfrm>
            <a:off x="8251587" y="2212339"/>
            <a:ext cx="2954589"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8F542A"/>
                </a:solidFill>
                <a:latin typeface="DM Serif Display" pitchFamily="18" charset="0"/>
                <a:ea typeface="DM Serif Display" pitchFamily="18" charset="-122"/>
                <a:cs typeface="DM Serif Display" pitchFamily="18" charset="-120"/>
              </a:rPr>
              <a:t>Workspace</a:t>
            </a:r>
            <a:endParaRPr lang="en-US" sz="2100" dirty="0"/>
          </a:p>
        </p:txBody>
      </p:sp>
      <p:sp>
        <p:nvSpPr>
          <p:cNvPr id="13" name="Text 11"/>
          <p:cNvSpPr/>
          <p:nvPr/>
        </p:nvSpPr>
        <p:spPr>
          <a:xfrm>
            <a:off x="8336169" y="2659382"/>
            <a:ext cx="2862387"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Things To Do: AI suggestions</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Connected Platforms (8)</a:t>
            </a:r>
            <a:endParaRPr lang="en-US" sz="1400" dirty="0"/>
          </a:p>
          <a:p>
            <a:pPr algn="l" marL="169418" indent="-169418">
              <a:lnSpc>
                <a:spcPts val="2100"/>
              </a:lnSpc>
              <a:buSzPct val="100000"/>
              <a:buChar char="•"/>
            </a:pPr>
            <a:r>
              <a:rPr lang="en-US" sz="1400" dirty="0">
                <a:solidFill>
                  <a:srgbClr val="5E4637"/>
                </a:solidFill>
                <a:latin typeface="DM Sans" pitchFamily="34" charset="0"/>
                <a:ea typeface="DM Sans" pitchFamily="34" charset="-122"/>
                <a:cs typeface="DM Sans" pitchFamily="34" charset="-120"/>
              </a:rPr>
              <a:t>Time Log and Monthly history</a:t>
            </a:r>
            <a:endParaRPr lang="en-US" sz="1400" dirty="0"/>
          </a:p>
        </p:txBody>
      </p:sp>
      <p:sp>
        <p:nvSpPr>
          <p:cNvPr id="14" name="Shape 12"/>
          <p:cNvSpPr/>
          <p:nvPr/>
        </p:nvSpPr>
        <p:spPr>
          <a:xfrm>
            <a:off x="812800" y="4826636"/>
            <a:ext cx="10566400" cy="0"/>
          </a:xfrm>
          <a:prstGeom prst="line">
            <a:avLst/>
          </a:prstGeom>
          <a:noFill/>
          <a:ln w="6350">
            <a:solidFill>
              <a:srgbClr val="D9C4A8"/>
            </a:solidFill>
            <a:prstDash val="solid"/>
          </a:ln>
        </p:spPr>
      </p:sp>
      <p:sp>
        <p:nvSpPr>
          <p:cNvPr id="15" name="Text 13"/>
          <p:cNvSpPr/>
          <p:nvPr/>
        </p:nvSpPr>
        <p:spPr>
          <a:xfrm>
            <a:off x="812800" y="498094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542A"/>
                </a:solidFill>
                <a:latin typeface="DM Sans" pitchFamily="34" charset="0"/>
                <a:ea typeface="DM Sans" pitchFamily="34" charset="-122"/>
                <a:cs typeface="DM Sans" pitchFamily="34" charset="-120"/>
              </a:rPr>
              <a:t>Plus:</a:t>
            </a:r>
            <a:r>
              <a:rPr lang="en-US" sz="1400" dirty="0">
                <a:solidFill>
                  <a:srgbClr val="5E4637"/>
                </a:solidFill>
                <a:latin typeface="DM Sans" pitchFamily="34" charset="0"/>
                <a:ea typeface="DM Sans" pitchFamily="34" charset="-122"/>
                <a:cs typeface="DM Sans" pitchFamily="34" charset="-120"/>
              </a:rPr>
              <a:t> AI chat assistant · customer review analyser · alert bell · light and dark theme · Owner login and view-only Demo login</a:t>
            </a:r>
            <a:endParaRPr lang="en-US" sz="1400" dirty="0"/>
          </a:p>
        </p:txBody>
      </p:sp>
      <p:sp>
        <p:nvSpPr>
          <p:cNvPr id="16" name="Text 14"/>
          <p:cNvSpPr/>
          <p:nvPr/>
        </p:nvSpPr>
        <p:spPr>
          <a:xfrm>
            <a:off x="812800" y="6238239"/>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Nexus · TechieMechie</a:t>
            </a:r>
            <a:endParaRPr lang="en-US" sz="1200" dirty="0"/>
          </a:p>
        </p:txBody>
      </p:sp>
      <p:sp>
        <p:nvSpPr>
          <p:cNvPr id="17" name="Text 15"/>
          <p:cNvSpPr/>
          <p:nvPr/>
        </p:nvSpPr>
        <p:spPr>
          <a:xfrm>
            <a:off x="10841196" y="6238239"/>
            <a:ext cx="6456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05 / 09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DBC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7A4624"/>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7A4624"/>
                </a:solidFill>
                <a:latin typeface="DM Sans" pitchFamily="34" charset="0"/>
                <a:ea typeface="DM Sans" pitchFamily="34" charset="-122"/>
                <a:cs typeface="DM Sans" pitchFamily="34" charset="-120"/>
              </a:rPr>
              <a:t>HOW IT WORKS</a:t>
            </a:r>
            <a:endParaRPr lang="en-US" sz="1300" dirty="0"/>
          </a:p>
        </p:txBody>
      </p:sp>
      <p:sp>
        <p:nvSpPr>
          <p:cNvPr id="4" name="Text 2"/>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2E1B10"/>
                </a:solidFill>
                <a:latin typeface="DM Serif Display" pitchFamily="18" charset="0"/>
                <a:ea typeface="DM Serif Display" pitchFamily="18" charset="-122"/>
                <a:cs typeface="DM Serif Display" pitchFamily="18" charset="-120"/>
              </a:rPr>
              <a:t>From scattered data to one clear decision</a:t>
            </a:r>
            <a:endParaRPr lang="en-US" sz="3600" dirty="0"/>
          </a:p>
        </p:txBody>
      </p:sp>
      <p:sp>
        <p:nvSpPr>
          <p:cNvPr id="5" name="Shape 3"/>
          <p:cNvSpPr/>
          <p:nvPr/>
        </p:nvSpPr>
        <p:spPr>
          <a:xfrm>
            <a:off x="815975" y="2007236"/>
            <a:ext cx="1985010" cy="2233930"/>
          </a:xfrm>
          <a:prstGeom prst="roundRect">
            <a:avLst>
              <a:gd name="adj" fmla="val 7518"/>
            </a:avLst>
          </a:prstGeom>
          <a:solidFill>
            <a:srgbClr val="FFFCF7"/>
          </a:solidFill>
          <a:ln w="6350">
            <a:solidFill>
              <a:srgbClr val="D9C4A8"/>
            </a:solidFill>
            <a:prstDash val="solid"/>
          </a:ln>
        </p:spPr>
      </p:sp>
      <p:sp>
        <p:nvSpPr>
          <p:cNvPr id="6" name="Text 4"/>
          <p:cNvSpPr/>
          <p:nvPr/>
        </p:nvSpPr>
        <p:spPr>
          <a:xfrm>
            <a:off x="1021080" y="2212339"/>
            <a:ext cx="1625600"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7A4624"/>
                </a:solidFill>
                <a:latin typeface="DM Serif Display" pitchFamily="18" charset="0"/>
                <a:ea typeface="DM Serif Display" pitchFamily="18" charset="-122"/>
                <a:cs typeface="DM Serif Display" pitchFamily="18" charset="-120"/>
              </a:rPr>
              <a:t>01</a:t>
            </a:r>
            <a:endParaRPr lang="en-US" sz="3400" dirty="0"/>
          </a:p>
        </p:txBody>
      </p:sp>
      <p:sp>
        <p:nvSpPr>
          <p:cNvPr id="7" name="Text 5"/>
          <p:cNvSpPr/>
          <p:nvPr/>
        </p:nvSpPr>
        <p:spPr>
          <a:xfrm>
            <a:off x="1021080" y="2733039"/>
            <a:ext cx="162560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Collect</a:t>
            </a:r>
            <a:endParaRPr lang="en-US" sz="1900" dirty="0"/>
          </a:p>
        </p:txBody>
      </p:sp>
      <p:sp>
        <p:nvSpPr>
          <p:cNvPr id="8" name="Text 6"/>
          <p:cNvSpPr/>
          <p:nvPr/>
        </p:nvSpPr>
        <p:spPr>
          <a:xfrm>
            <a:off x="1021080" y="3111500"/>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Ad spend, orders, stock and margins in one place.</a:t>
            </a:r>
            <a:endParaRPr lang="en-US" sz="1300" dirty="0"/>
          </a:p>
        </p:txBody>
      </p:sp>
      <p:sp>
        <p:nvSpPr>
          <p:cNvPr id="9" name="Shape 7"/>
          <p:cNvSpPr/>
          <p:nvPr/>
        </p:nvSpPr>
        <p:spPr>
          <a:xfrm>
            <a:off x="2959735" y="2007236"/>
            <a:ext cx="1985010" cy="2233930"/>
          </a:xfrm>
          <a:prstGeom prst="roundRect">
            <a:avLst>
              <a:gd name="adj" fmla="val 7518"/>
            </a:avLst>
          </a:prstGeom>
          <a:solidFill>
            <a:srgbClr val="FFFCF7"/>
          </a:solidFill>
          <a:ln w="6350">
            <a:solidFill>
              <a:srgbClr val="D9C4A8"/>
            </a:solidFill>
            <a:prstDash val="solid"/>
          </a:ln>
        </p:spPr>
      </p:sp>
      <p:sp>
        <p:nvSpPr>
          <p:cNvPr id="10" name="Text 8"/>
          <p:cNvSpPr/>
          <p:nvPr/>
        </p:nvSpPr>
        <p:spPr>
          <a:xfrm>
            <a:off x="3164840" y="2212339"/>
            <a:ext cx="1625600"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7A4624"/>
                </a:solidFill>
                <a:latin typeface="DM Serif Display" pitchFamily="18" charset="0"/>
                <a:ea typeface="DM Serif Display" pitchFamily="18" charset="-122"/>
                <a:cs typeface="DM Serif Display" pitchFamily="18" charset="-120"/>
              </a:rPr>
              <a:t>02</a:t>
            </a:r>
            <a:endParaRPr lang="en-US" sz="3400" dirty="0"/>
          </a:p>
        </p:txBody>
      </p:sp>
      <p:sp>
        <p:nvSpPr>
          <p:cNvPr id="11" name="Text 9"/>
          <p:cNvSpPr/>
          <p:nvPr/>
        </p:nvSpPr>
        <p:spPr>
          <a:xfrm>
            <a:off x="3164840" y="2733039"/>
            <a:ext cx="162560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Detect</a:t>
            </a:r>
            <a:endParaRPr lang="en-US" sz="1900" dirty="0"/>
          </a:p>
        </p:txBody>
      </p:sp>
      <p:sp>
        <p:nvSpPr>
          <p:cNvPr id="12" name="Text 10"/>
          <p:cNvSpPr/>
          <p:nvPr/>
        </p:nvSpPr>
        <p:spPr>
          <a:xfrm>
            <a:off x="3164840" y="3111500"/>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Flag days when cost, clicks or sales move out of range.</a:t>
            </a:r>
            <a:endParaRPr lang="en-US" sz="1300" dirty="0"/>
          </a:p>
        </p:txBody>
      </p:sp>
      <p:sp>
        <p:nvSpPr>
          <p:cNvPr id="13" name="Shape 11"/>
          <p:cNvSpPr/>
          <p:nvPr/>
        </p:nvSpPr>
        <p:spPr>
          <a:xfrm>
            <a:off x="5103495" y="2007236"/>
            <a:ext cx="1985010" cy="2233930"/>
          </a:xfrm>
          <a:prstGeom prst="roundRect">
            <a:avLst>
              <a:gd name="adj" fmla="val 7518"/>
            </a:avLst>
          </a:prstGeom>
          <a:solidFill>
            <a:srgbClr val="FFFCF7"/>
          </a:solidFill>
          <a:ln w="6350">
            <a:solidFill>
              <a:srgbClr val="D9C4A8"/>
            </a:solidFill>
            <a:prstDash val="solid"/>
          </a:ln>
        </p:spPr>
      </p:sp>
      <p:sp>
        <p:nvSpPr>
          <p:cNvPr id="14" name="Text 12"/>
          <p:cNvSpPr/>
          <p:nvPr/>
        </p:nvSpPr>
        <p:spPr>
          <a:xfrm>
            <a:off x="5308600" y="2212339"/>
            <a:ext cx="1625600"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7A4624"/>
                </a:solidFill>
                <a:latin typeface="DM Serif Display" pitchFamily="18" charset="0"/>
                <a:ea typeface="DM Serif Display" pitchFamily="18" charset="-122"/>
                <a:cs typeface="DM Serif Display" pitchFamily="18" charset="-120"/>
              </a:rPr>
              <a:t>03</a:t>
            </a:r>
            <a:endParaRPr lang="en-US" sz="3400" dirty="0"/>
          </a:p>
        </p:txBody>
      </p:sp>
      <p:sp>
        <p:nvSpPr>
          <p:cNvPr id="15" name="Text 13"/>
          <p:cNvSpPr/>
          <p:nvPr/>
        </p:nvSpPr>
        <p:spPr>
          <a:xfrm>
            <a:off x="5308600" y="2733039"/>
            <a:ext cx="162560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Diagnose</a:t>
            </a:r>
            <a:endParaRPr lang="en-US" sz="1900" dirty="0"/>
          </a:p>
        </p:txBody>
      </p:sp>
      <p:sp>
        <p:nvSpPr>
          <p:cNvPr id="16" name="Text 14"/>
          <p:cNvSpPr/>
          <p:nvPr/>
        </p:nvSpPr>
        <p:spPr>
          <a:xfrm>
            <a:off x="5308600" y="3111500"/>
            <a:ext cx="162560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Check stock, ad cost, click rate and margin to find the cause.</a:t>
            </a:r>
            <a:endParaRPr lang="en-US" sz="1300" dirty="0"/>
          </a:p>
        </p:txBody>
      </p:sp>
      <p:sp>
        <p:nvSpPr>
          <p:cNvPr id="17" name="Shape 15"/>
          <p:cNvSpPr/>
          <p:nvPr/>
        </p:nvSpPr>
        <p:spPr>
          <a:xfrm>
            <a:off x="7247255" y="2007236"/>
            <a:ext cx="1985010" cy="2233930"/>
          </a:xfrm>
          <a:prstGeom prst="roundRect">
            <a:avLst>
              <a:gd name="adj" fmla="val 7518"/>
            </a:avLst>
          </a:prstGeom>
          <a:solidFill>
            <a:srgbClr val="FFFCF7"/>
          </a:solidFill>
          <a:ln w="6350">
            <a:solidFill>
              <a:srgbClr val="D9C4A8"/>
            </a:solidFill>
            <a:prstDash val="solid"/>
          </a:ln>
        </p:spPr>
      </p:sp>
      <p:sp>
        <p:nvSpPr>
          <p:cNvPr id="18" name="Text 16"/>
          <p:cNvSpPr/>
          <p:nvPr/>
        </p:nvSpPr>
        <p:spPr>
          <a:xfrm>
            <a:off x="7452360" y="2212339"/>
            <a:ext cx="1625600"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7A4624"/>
                </a:solidFill>
                <a:latin typeface="DM Serif Display" pitchFamily="18" charset="0"/>
                <a:ea typeface="DM Serif Display" pitchFamily="18" charset="-122"/>
                <a:cs typeface="DM Serif Display" pitchFamily="18" charset="-120"/>
              </a:rPr>
              <a:t>04</a:t>
            </a:r>
            <a:endParaRPr lang="en-US" sz="3400" dirty="0"/>
          </a:p>
        </p:txBody>
      </p:sp>
      <p:sp>
        <p:nvSpPr>
          <p:cNvPr id="19" name="Text 17"/>
          <p:cNvSpPr/>
          <p:nvPr/>
        </p:nvSpPr>
        <p:spPr>
          <a:xfrm>
            <a:off x="7452360" y="2733039"/>
            <a:ext cx="162560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Optimize</a:t>
            </a:r>
            <a:endParaRPr lang="en-US" sz="1900" dirty="0"/>
          </a:p>
        </p:txBody>
      </p:sp>
      <p:sp>
        <p:nvSpPr>
          <p:cNvPr id="20" name="Text 18"/>
          <p:cNvSpPr/>
          <p:nvPr/>
        </p:nvSpPr>
        <p:spPr>
          <a:xfrm>
            <a:off x="7452360" y="3111500"/>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Rank actions by expected profit, not revenue.</a:t>
            </a:r>
            <a:endParaRPr lang="en-US" sz="1300" dirty="0"/>
          </a:p>
        </p:txBody>
      </p:sp>
      <p:sp>
        <p:nvSpPr>
          <p:cNvPr id="21" name="Shape 19"/>
          <p:cNvSpPr/>
          <p:nvPr/>
        </p:nvSpPr>
        <p:spPr>
          <a:xfrm>
            <a:off x="9391015" y="2007236"/>
            <a:ext cx="1985010" cy="2233930"/>
          </a:xfrm>
          <a:prstGeom prst="roundRect">
            <a:avLst>
              <a:gd name="adj" fmla="val 7518"/>
            </a:avLst>
          </a:prstGeom>
          <a:solidFill>
            <a:srgbClr val="FFFCF7"/>
          </a:solidFill>
          <a:ln w="6350">
            <a:solidFill>
              <a:srgbClr val="D9C4A8"/>
            </a:solidFill>
            <a:prstDash val="solid"/>
          </a:ln>
        </p:spPr>
      </p:sp>
      <p:sp>
        <p:nvSpPr>
          <p:cNvPr id="22" name="Text 20"/>
          <p:cNvSpPr/>
          <p:nvPr/>
        </p:nvSpPr>
        <p:spPr>
          <a:xfrm>
            <a:off x="9596120" y="2212339"/>
            <a:ext cx="1625600"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7A4624"/>
                </a:solidFill>
                <a:latin typeface="DM Serif Display" pitchFamily="18" charset="0"/>
                <a:ea typeface="DM Serif Display" pitchFamily="18" charset="-122"/>
                <a:cs typeface="DM Serif Display" pitchFamily="18" charset="-120"/>
              </a:rPr>
              <a:t>05</a:t>
            </a:r>
            <a:endParaRPr lang="en-US" sz="3400" dirty="0"/>
          </a:p>
        </p:txBody>
      </p:sp>
      <p:sp>
        <p:nvSpPr>
          <p:cNvPr id="23" name="Text 21"/>
          <p:cNvSpPr/>
          <p:nvPr/>
        </p:nvSpPr>
        <p:spPr>
          <a:xfrm>
            <a:off x="9596120" y="2733039"/>
            <a:ext cx="162560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Approve</a:t>
            </a:r>
            <a:endParaRPr lang="en-US" sz="1900" dirty="0"/>
          </a:p>
        </p:txBody>
      </p:sp>
      <p:sp>
        <p:nvSpPr>
          <p:cNvPr id="24" name="Text 22"/>
          <p:cNvSpPr/>
          <p:nvPr/>
        </p:nvSpPr>
        <p:spPr>
          <a:xfrm>
            <a:off x="9596120" y="3111500"/>
            <a:ext cx="162560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One click to approve, then compare predicted and actual results.</a:t>
            </a:r>
            <a:endParaRPr lang="en-US" sz="1300" dirty="0"/>
          </a:p>
        </p:txBody>
      </p:sp>
      <p:sp>
        <p:nvSpPr>
          <p:cNvPr id="25" name="Text 23"/>
          <p:cNvSpPr/>
          <p:nvPr/>
        </p:nvSpPr>
        <p:spPr>
          <a:xfrm>
            <a:off x="812800" y="4599939"/>
            <a:ext cx="10566400" cy="889000"/>
          </a:xfrm>
          <a:prstGeom prst="roundRect">
            <a:avLst>
              <a:gd name="adj" fmla="val 14286"/>
            </a:avLst>
          </a:prstGeom>
          <a:solidFill>
            <a:srgbClr val="FFFCF7"/>
          </a:solidFill>
          <a:ln/>
        </p:spPr>
        <p:txBody>
          <a:bodyPr wrap="square" lIns="226963" tIns="140603" rIns="0" bIns="115203" rtlCol="0" anchor="t">
            <a:normAutofit/>
          </a:bodyPr>
          <a:lstStyle/>
          <a:p>
            <a:pPr algn="l" indent="0" marL="0">
              <a:lnSpc>
                <a:spcPts val="2100"/>
              </a:lnSpc>
              <a:buNone/>
            </a:pPr>
            <a:r>
              <a:rPr lang="en-US" sz="1500" b="1" dirty="0">
                <a:solidFill>
                  <a:srgbClr val="2E1B10"/>
                </a:solidFill>
                <a:latin typeface="DM Sans" pitchFamily="34" charset="0"/>
                <a:ea typeface="DM Sans" pitchFamily="34" charset="-122"/>
                <a:cs typeface="DM Sans" pitchFamily="34" charset="-120"/>
              </a:rPr>
              <a:t>Example:</a:t>
            </a:r>
            <a:r>
              <a:rPr lang="en-US" sz="1500" dirty="0">
                <a:solidFill>
                  <a:srgbClr val="2E1B10"/>
                </a:solidFill>
                <a:latin typeface="DM Sans" pitchFamily="34" charset="0"/>
                <a:ea typeface="DM Sans" pitchFamily="34" charset="-122"/>
                <a:cs typeface="DM Sans" pitchFamily="34" charset="-120"/>
              </a:rPr>
              <a:t> click rate drops on a TikTok ad → Nexus finds ad fatigue → suggests pausing it and moving budget to a more profitable ad → you approve.</a:t>
            </a:r>
            <a:endParaRPr lang="en-US" sz="1500" dirty="0"/>
          </a:p>
        </p:txBody>
      </p:sp>
      <p:sp>
        <p:nvSpPr>
          <p:cNvPr id="26" name="Shape 24"/>
          <p:cNvSpPr/>
          <p:nvPr/>
        </p:nvSpPr>
        <p:spPr>
          <a:xfrm>
            <a:off x="812800" y="4599939"/>
            <a:ext cx="10566400" cy="889000"/>
          </a:xfrm>
          <a:custGeom>
            <a:avLst/>
            <a:gdLst/>
            <a:ahLst/>
            <a:cxnLst/>
            <a:rect l="l" t="t" r="r" b="b"/>
            <a:pathLst>
              <a:path w="10566400" h="889000">
                <a:moveTo>
                  <a:pt x="127000" y="889000"/>
                </a:moveTo>
                <a:lnTo>
                  <a:pt x="127000" y="889000"/>
                </a:lnTo>
                <a:arcTo hR="127000" wR="127000" stAng="5400000" swAng="5400000"/>
                <a:lnTo>
                  <a:pt x="0" y="127000"/>
                </a:lnTo>
                <a:arcTo hR="127000" wR="127000" stAng="10800000" swAng="5400000"/>
                <a:lnTo>
                  <a:pt x="127000" y="0"/>
                </a:lnTo>
                <a:arcTo hR="127000" wR="88900" stAng="16200000" swAng="-5400000"/>
                <a:lnTo>
                  <a:pt x="38100" y="762000"/>
                </a:lnTo>
                <a:arcTo hR="127000" wR="88900" stAng="10800000" swAng="-5400000"/>
                <a:close/>
              </a:path>
            </a:pathLst>
          </a:custGeom>
          <a:solidFill>
            <a:srgbClr val="7A4624"/>
          </a:solidFill>
          <a:ln/>
        </p:spPr>
      </p:sp>
      <p:sp>
        <p:nvSpPr>
          <p:cNvPr id="27" name="Text 25"/>
          <p:cNvSpPr/>
          <p:nvPr/>
        </p:nvSpPr>
        <p:spPr>
          <a:xfrm>
            <a:off x="812800" y="6238239"/>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392A"/>
                </a:solidFill>
                <a:latin typeface="DM Sans" pitchFamily="34" charset="0"/>
                <a:ea typeface="DM Sans" pitchFamily="34" charset="-122"/>
                <a:cs typeface="DM Sans" pitchFamily="34" charset="-120"/>
              </a:rPr>
              <a:t>Nexus · TechieMechie</a:t>
            </a:r>
            <a:endParaRPr lang="en-US" sz="1200" dirty="0"/>
          </a:p>
        </p:txBody>
      </p:sp>
      <p:sp>
        <p:nvSpPr>
          <p:cNvPr id="28" name="Text 26"/>
          <p:cNvSpPr/>
          <p:nvPr/>
        </p:nvSpPr>
        <p:spPr>
          <a:xfrm>
            <a:off x="10838418" y="6238239"/>
            <a:ext cx="6489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392A"/>
                </a:solidFill>
                <a:latin typeface="DM Sans" pitchFamily="34" charset="0"/>
                <a:ea typeface="DM Sans" pitchFamily="34" charset="-122"/>
                <a:cs typeface="DM Sans" pitchFamily="34" charset="-120"/>
              </a:rPr>
              <a:t>06 / 09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1E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8F542A"/>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8F542A"/>
                </a:solidFill>
                <a:latin typeface="DM Sans" pitchFamily="34" charset="0"/>
                <a:ea typeface="DM Sans" pitchFamily="34" charset="-122"/>
                <a:cs typeface="DM Sans" pitchFamily="34" charset="-120"/>
              </a:rPr>
              <a:t>ARCHITECTURE</a:t>
            </a:r>
            <a:endParaRPr lang="en-US" sz="1300" dirty="0"/>
          </a:p>
        </p:txBody>
      </p:sp>
      <p:sp>
        <p:nvSpPr>
          <p:cNvPr id="4" name="Text 2"/>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2E1B10"/>
                </a:solidFill>
                <a:latin typeface="DM Serif Display" pitchFamily="18" charset="0"/>
                <a:ea typeface="DM Serif Display" pitchFamily="18" charset="-122"/>
                <a:cs typeface="DM Serif Display" pitchFamily="18" charset="-120"/>
              </a:rPr>
              <a:t>Simple, secure and built to scale</a:t>
            </a:r>
            <a:endParaRPr lang="en-US" sz="3600" dirty="0"/>
          </a:p>
        </p:txBody>
      </p:sp>
      <p:sp>
        <p:nvSpPr>
          <p:cNvPr id="5" name="Shape 3"/>
          <p:cNvSpPr/>
          <p:nvPr/>
        </p:nvSpPr>
        <p:spPr>
          <a:xfrm>
            <a:off x="815975" y="2072007"/>
            <a:ext cx="2973864" cy="1212850"/>
          </a:xfrm>
          <a:prstGeom prst="roundRect">
            <a:avLst>
              <a:gd name="adj" fmla="val 12304"/>
            </a:avLst>
          </a:prstGeom>
          <a:solidFill>
            <a:srgbClr val="FFFCF7"/>
          </a:solidFill>
          <a:ln w="6350">
            <a:solidFill>
              <a:srgbClr val="E3D2BC"/>
            </a:solidFill>
            <a:prstDash val="solid"/>
          </a:ln>
        </p:spPr>
      </p:sp>
      <p:sp>
        <p:nvSpPr>
          <p:cNvPr id="6" name="Text 4"/>
          <p:cNvSpPr/>
          <p:nvPr/>
        </p:nvSpPr>
        <p:spPr>
          <a:xfrm>
            <a:off x="1021080" y="2277111"/>
            <a:ext cx="2640563"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Browser</a:t>
            </a:r>
            <a:endParaRPr lang="en-US" sz="1900" dirty="0"/>
          </a:p>
        </p:txBody>
      </p:sp>
      <p:sp>
        <p:nvSpPr>
          <p:cNvPr id="7" name="Text 5"/>
          <p:cNvSpPr/>
          <p:nvPr/>
        </p:nvSpPr>
        <p:spPr>
          <a:xfrm>
            <a:off x="1021080" y="2617471"/>
            <a:ext cx="26405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637"/>
                </a:solidFill>
                <a:latin typeface="DM Sans" pitchFamily="34" charset="0"/>
                <a:ea typeface="DM Sans" pitchFamily="34" charset="-122"/>
                <a:cs typeface="DM Sans" pitchFamily="34" charset="-120"/>
              </a:rPr>
              <a:t>Landing page and dashboard: HTML, Tailwind, Alpine.js, Chart.js</a:t>
            </a:r>
            <a:endParaRPr lang="en-US" sz="1300" dirty="0"/>
          </a:p>
        </p:txBody>
      </p:sp>
      <p:pic>
        <p:nvPicPr>
          <p:cNvPr id="8" name="Image 0" descr="arrow-right">    </p:cNvPr>
          <p:cNvPicPr>
            <a:picLocks noChangeAspect="1"/>
          </p:cNvPicPr>
          <p:nvPr/>
        </p:nvPicPr>
        <p:blipFill>
          <a:blip r:embed="rId1"/>
          <a:srcRect l="0" r="0" t="0" b="0"/>
          <a:stretch/>
        </p:blipFill>
        <p:spPr>
          <a:xfrm>
            <a:off x="3945414" y="2538732"/>
            <a:ext cx="508000" cy="279400"/>
          </a:xfrm>
          <a:prstGeom prst="rect">
            <a:avLst/>
          </a:prstGeom>
        </p:spPr>
      </p:pic>
      <p:sp>
        <p:nvSpPr>
          <p:cNvPr id="9" name="Shape 6"/>
          <p:cNvSpPr/>
          <p:nvPr/>
        </p:nvSpPr>
        <p:spPr>
          <a:xfrm>
            <a:off x="4608989" y="2072007"/>
            <a:ext cx="2973943" cy="1212850"/>
          </a:xfrm>
          <a:prstGeom prst="roundRect">
            <a:avLst>
              <a:gd name="adj" fmla="val 12304"/>
            </a:avLst>
          </a:prstGeom>
          <a:solidFill>
            <a:srgbClr val="3A2418"/>
          </a:solidFill>
          <a:ln w="6350">
            <a:solidFill>
              <a:srgbClr val="3A2418"/>
            </a:solidFill>
            <a:prstDash val="solid"/>
          </a:ln>
        </p:spPr>
      </p:sp>
      <p:sp>
        <p:nvSpPr>
          <p:cNvPr id="10" name="Text 7"/>
          <p:cNvSpPr/>
          <p:nvPr/>
        </p:nvSpPr>
        <p:spPr>
          <a:xfrm>
            <a:off x="4814094" y="2277111"/>
            <a:ext cx="2640645"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F7F1E8"/>
                </a:solidFill>
                <a:latin typeface="DM Serif Display" pitchFamily="18" charset="0"/>
                <a:ea typeface="DM Serif Display" pitchFamily="18" charset="-122"/>
                <a:cs typeface="DM Serif Display" pitchFamily="18" charset="-120"/>
              </a:rPr>
              <a:t>FastAPI backend</a:t>
            </a:r>
            <a:endParaRPr lang="en-US" sz="1900" dirty="0"/>
          </a:p>
        </p:txBody>
      </p:sp>
      <p:sp>
        <p:nvSpPr>
          <p:cNvPr id="11" name="Text 8"/>
          <p:cNvSpPr/>
          <p:nvPr/>
        </p:nvSpPr>
        <p:spPr>
          <a:xfrm>
            <a:off x="4814094" y="2617471"/>
            <a:ext cx="264064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C5B0"/>
                </a:solidFill>
                <a:latin typeface="DM Sans" pitchFamily="34" charset="0"/>
                <a:ea typeface="DM Sans" pitchFamily="34" charset="-122"/>
                <a:cs typeface="DM Sans" pitchFamily="34" charset="-120"/>
              </a:rPr>
              <a:t>Python: ads engine, AI engine, 8 platform connectors, login</a:t>
            </a:r>
            <a:endParaRPr lang="en-US" sz="1300" dirty="0"/>
          </a:p>
        </p:txBody>
      </p:sp>
      <p:pic>
        <p:nvPicPr>
          <p:cNvPr id="12" name="Image 1" descr="arrow-right">    </p:cNvPr>
          <p:cNvPicPr>
            <a:picLocks noChangeAspect="1"/>
          </p:cNvPicPr>
          <p:nvPr/>
        </p:nvPicPr>
        <p:blipFill>
          <a:blip r:embed="rId2"/>
          <a:srcRect l="0" r="0" t="0" b="0"/>
          <a:stretch/>
        </p:blipFill>
        <p:spPr>
          <a:xfrm>
            <a:off x="7738507" y="2538732"/>
            <a:ext cx="508000" cy="279400"/>
          </a:xfrm>
          <a:prstGeom prst="rect">
            <a:avLst/>
          </a:prstGeom>
        </p:spPr>
      </p:pic>
      <p:sp>
        <p:nvSpPr>
          <p:cNvPr id="13" name="Shape 9"/>
          <p:cNvSpPr/>
          <p:nvPr/>
        </p:nvSpPr>
        <p:spPr>
          <a:xfrm>
            <a:off x="8402082" y="1956436"/>
            <a:ext cx="2973943" cy="1443990"/>
          </a:xfrm>
          <a:prstGeom prst="roundRect">
            <a:avLst>
              <a:gd name="adj" fmla="val 10334"/>
            </a:avLst>
          </a:prstGeom>
          <a:solidFill>
            <a:srgbClr val="FFFCF7"/>
          </a:solidFill>
          <a:ln w="6350">
            <a:solidFill>
              <a:srgbClr val="E3D2BC"/>
            </a:solidFill>
            <a:prstDash val="solid"/>
          </a:ln>
        </p:spPr>
      </p:sp>
      <p:sp>
        <p:nvSpPr>
          <p:cNvPr id="14" name="Text 10"/>
          <p:cNvSpPr/>
          <p:nvPr/>
        </p:nvSpPr>
        <p:spPr>
          <a:xfrm>
            <a:off x="8607187" y="2161539"/>
            <a:ext cx="2640645"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2E1B10"/>
                </a:solidFill>
                <a:latin typeface="DM Serif Display" pitchFamily="18" charset="0"/>
                <a:ea typeface="DM Serif Display" pitchFamily="18" charset="-122"/>
                <a:cs typeface="DM Serif Display" pitchFamily="18" charset="-120"/>
              </a:rPr>
              <a:t>Supabase</a:t>
            </a:r>
            <a:endParaRPr lang="en-US" sz="1900" dirty="0"/>
          </a:p>
        </p:txBody>
      </p:sp>
      <p:sp>
        <p:nvSpPr>
          <p:cNvPr id="15" name="Text 11"/>
          <p:cNvSpPr/>
          <p:nvPr/>
        </p:nvSpPr>
        <p:spPr>
          <a:xfrm>
            <a:off x="8607187" y="2501900"/>
            <a:ext cx="264064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637"/>
                </a:solidFill>
                <a:latin typeface="DM Sans" pitchFamily="34" charset="0"/>
                <a:ea typeface="DM Sans" pitchFamily="34" charset="-122"/>
                <a:cs typeface="DM Sans" pitchFamily="34" charset="-120"/>
              </a:rPr>
              <a:t>PostgreSQL database and file storage for ad pictures and videos</a:t>
            </a:r>
            <a:endParaRPr lang="en-US" sz="1300" dirty="0"/>
          </a:p>
        </p:txBody>
      </p:sp>
      <p:sp>
        <p:nvSpPr>
          <p:cNvPr id="16" name="Shape 12"/>
          <p:cNvSpPr/>
          <p:nvPr/>
        </p:nvSpPr>
        <p:spPr>
          <a:xfrm>
            <a:off x="812800" y="3708400"/>
            <a:ext cx="3386614" cy="1501140"/>
          </a:xfrm>
          <a:prstGeom prst="roundRect">
            <a:avLst>
              <a:gd name="adj" fmla="val 10152"/>
            </a:avLst>
          </a:prstGeom>
          <a:solidFill>
            <a:srgbClr val="EADBC8"/>
          </a:solidFill>
          <a:ln/>
        </p:spPr>
      </p:sp>
      <p:sp>
        <p:nvSpPr>
          <p:cNvPr id="17" name="Text 13"/>
          <p:cNvSpPr/>
          <p:nvPr/>
        </p:nvSpPr>
        <p:spPr>
          <a:xfrm>
            <a:off x="1041400" y="3937000"/>
            <a:ext cx="3017296"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A4624"/>
                </a:solidFill>
                <a:latin typeface="DM Serif Display" pitchFamily="18" charset="0"/>
                <a:ea typeface="DM Serif Display" pitchFamily="18" charset="-122"/>
                <a:cs typeface="DM Serif Display" pitchFamily="18" charset="-120"/>
              </a:rPr>
              <a:t>Stateless</a:t>
            </a:r>
            <a:endParaRPr lang="en-US" sz="1800" dirty="0"/>
          </a:p>
        </p:txBody>
      </p:sp>
      <p:sp>
        <p:nvSpPr>
          <p:cNvPr id="18" name="Text 14"/>
          <p:cNvSpPr/>
          <p:nvPr/>
        </p:nvSpPr>
        <p:spPr>
          <a:xfrm>
            <a:off x="1041400" y="4287521"/>
            <a:ext cx="301729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All data lives in Supabase, so the app survives restarts and can run as many copies.</a:t>
            </a:r>
            <a:endParaRPr lang="en-US" sz="1300" dirty="0"/>
          </a:p>
        </p:txBody>
      </p:sp>
      <p:sp>
        <p:nvSpPr>
          <p:cNvPr id="19" name="Shape 15"/>
          <p:cNvSpPr/>
          <p:nvPr/>
        </p:nvSpPr>
        <p:spPr>
          <a:xfrm>
            <a:off x="4402614" y="3708400"/>
            <a:ext cx="3386693" cy="1501140"/>
          </a:xfrm>
          <a:prstGeom prst="roundRect">
            <a:avLst>
              <a:gd name="adj" fmla="val 10152"/>
            </a:avLst>
          </a:prstGeom>
          <a:solidFill>
            <a:srgbClr val="EADBC8"/>
          </a:solidFill>
          <a:ln/>
        </p:spPr>
      </p:sp>
      <p:sp>
        <p:nvSpPr>
          <p:cNvPr id="20" name="Text 16"/>
          <p:cNvSpPr/>
          <p:nvPr/>
        </p:nvSpPr>
        <p:spPr>
          <a:xfrm>
            <a:off x="4631214" y="3937000"/>
            <a:ext cx="3017378"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A4624"/>
                </a:solidFill>
                <a:latin typeface="DM Serif Display" pitchFamily="18" charset="0"/>
                <a:ea typeface="DM Serif Display" pitchFamily="18" charset="-122"/>
                <a:cs typeface="DM Serif Display" pitchFamily="18" charset="-120"/>
              </a:rPr>
              <a:t>Safe updates</a:t>
            </a:r>
            <a:endParaRPr lang="en-US" sz="1800" dirty="0"/>
          </a:p>
        </p:txBody>
      </p:sp>
      <p:sp>
        <p:nvSpPr>
          <p:cNvPr id="21" name="Text 17"/>
          <p:cNvSpPr/>
          <p:nvPr/>
        </p:nvSpPr>
        <p:spPr>
          <a:xfrm>
            <a:off x="4631214" y="4287521"/>
            <a:ext cx="301737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Each order sync updates stock, totals, ads and reviews in one transaction.</a:t>
            </a:r>
            <a:endParaRPr lang="en-US" sz="1300" dirty="0"/>
          </a:p>
        </p:txBody>
      </p:sp>
      <p:sp>
        <p:nvSpPr>
          <p:cNvPr id="22" name="Shape 18"/>
          <p:cNvSpPr/>
          <p:nvPr/>
        </p:nvSpPr>
        <p:spPr>
          <a:xfrm>
            <a:off x="7992507" y="3708400"/>
            <a:ext cx="3386693" cy="1501140"/>
          </a:xfrm>
          <a:prstGeom prst="roundRect">
            <a:avLst>
              <a:gd name="adj" fmla="val 10152"/>
            </a:avLst>
          </a:prstGeom>
          <a:solidFill>
            <a:srgbClr val="EADBC8"/>
          </a:solidFill>
          <a:ln/>
        </p:spPr>
      </p:sp>
      <p:sp>
        <p:nvSpPr>
          <p:cNvPr id="23" name="Text 19"/>
          <p:cNvSpPr/>
          <p:nvPr/>
        </p:nvSpPr>
        <p:spPr>
          <a:xfrm>
            <a:off x="8221107" y="3937000"/>
            <a:ext cx="3017378"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A4624"/>
                </a:solidFill>
                <a:latin typeface="DM Serif Display" pitchFamily="18" charset="0"/>
                <a:ea typeface="DM Serif Display" pitchFamily="18" charset="-122"/>
                <a:cs typeface="DM Serif Display" pitchFamily="18" charset="-120"/>
              </a:rPr>
              <a:t>Locked down</a:t>
            </a:r>
            <a:endParaRPr lang="en-US" sz="1800" dirty="0"/>
          </a:p>
        </p:txBody>
      </p:sp>
      <p:sp>
        <p:nvSpPr>
          <p:cNvPr id="24" name="Text 20"/>
          <p:cNvSpPr/>
          <p:nvPr/>
        </p:nvSpPr>
        <p:spPr>
          <a:xfrm>
            <a:off x="8221107" y="4287521"/>
            <a:ext cx="301737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392A"/>
                </a:solidFill>
                <a:latin typeface="DM Sans" pitchFamily="34" charset="0"/>
                <a:ea typeface="DM Sans" pitchFamily="34" charset="-122"/>
                <a:cs typeface="DM Sans" pitchFamily="34" charset="-120"/>
              </a:rPr>
              <a:t>Row Level Security means only the backend can read or write data. Hosted on Railway.</a:t>
            </a:r>
            <a:endParaRPr lang="en-US" sz="1300" dirty="0"/>
          </a:p>
        </p:txBody>
      </p:sp>
      <p:sp>
        <p:nvSpPr>
          <p:cNvPr id="25" name="Text 21"/>
          <p:cNvSpPr/>
          <p:nvPr/>
        </p:nvSpPr>
        <p:spPr>
          <a:xfrm>
            <a:off x="812800" y="6238239"/>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Nexus · TechieMechie</a:t>
            </a:r>
            <a:endParaRPr lang="en-US" sz="1200" dirty="0"/>
          </a:p>
        </p:txBody>
      </p:sp>
      <p:sp>
        <p:nvSpPr>
          <p:cNvPr id="26" name="Text 22"/>
          <p:cNvSpPr/>
          <p:nvPr/>
        </p:nvSpPr>
        <p:spPr>
          <a:xfrm>
            <a:off x="10854928" y="6238239"/>
            <a:ext cx="6291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445"/>
                </a:solidFill>
                <a:latin typeface="DM Sans" pitchFamily="34" charset="0"/>
                <a:ea typeface="DM Sans" pitchFamily="34" charset="-122"/>
                <a:cs typeface="DM Sans" pitchFamily="34" charset="-120"/>
              </a:rPr>
              <a:t>07 / 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A2418"/>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E0B48A"/>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E0B48A"/>
                </a:solidFill>
                <a:latin typeface="DM Sans" pitchFamily="34" charset="0"/>
                <a:ea typeface="DM Sans" pitchFamily="34" charset="-122"/>
                <a:cs typeface="DM Sans" pitchFamily="34" charset="-120"/>
              </a:rPr>
              <a:t>AI AND SECURITY</a:t>
            </a:r>
            <a:endParaRPr lang="en-US" sz="1300" dirty="0"/>
          </a:p>
        </p:txBody>
      </p:sp>
      <p:sp>
        <p:nvSpPr>
          <p:cNvPr id="4" name="Text 2"/>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1E8"/>
                </a:solidFill>
                <a:latin typeface="DM Serif Display" pitchFamily="18" charset="0"/>
                <a:ea typeface="DM Serif Display" pitchFamily="18" charset="-122"/>
                <a:cs typeface="DM Serif Display" pitchFamily="18" charset="-120"/>
              </a:rPr>
              <a:t>AI that is cheap, reliable and honest</a:t>
            </a:r>
            <a:endParaRPr lang="en-US" sz="3600" dirty="0"/>
          </a:p>
        </p:txBody>
      </p:sp>
      <p:sp>
        <p:nvSpPr>
          <p:cNvPr id="5" name="Shape 3"/>
          <p:cNvSpPr/>
          <p:nvPr/>
        </p:nvSpPr>
        <p:spPr>
          <a:xfrm>
            <a:off x="815975" y="1956436"/>
            <a:ext cx="5175250" cy="3021330"/>
          </a:xfrm>
          <a:prstGeom prst="roundRect">
            <a:avLst>
              <a:gd name="adj" fmla="val 4939"/>
            </a:avLst>
          </a:prstGeom>
          <a:solidFill>
            <a:srgbClr val="4A2F20"/>
          </a:solidFill>
          <a:ln w="6350">
            <a:solidFill>
              <a:srgbClr val="6A4630"/>
            </a:solidFill>
            <a:prstDash val="solid"/>
          </a:ln>
        </p:spPr>
      </p:sp>
      <p:sp>
        <p:nvSpPr>
          <p:cNvPr id="6" name="Text 4"/>
          <p:cNvSpPr/>
          <p:nvPr/>
        </p:nvSpPr>
        <p:spPr>
          <a:xfrm>
            <a:off x="1071880" y="2212339"/>
            <a:ext cx="4803343"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E0B48A"/>
                </a:solidFill>
                <a:latin typeface="DM Serif Display" pitchFamily="18" charset="0"/>
                <a:ea typeface="DM Serif Display" pitchFamily="18" charset="-122"/>
                <a:cs typeface="DM Serif Display" pitchFamily="18" charset="-120"/>
              </a:rPr>
              <a:t>How the AI works</a:t>
            </a:r>
            <a:endParaRPr lang="en-US" sz="2100" dirty="0"/>
          </a:p>
        </p:txBody>
      </p:sp>
      <p:sp>
        <p:nvSpPr>
          <p:cNvPr id="7" name="Text 5"/>
          <p:cNvSpPr/>
          <p:nvPr/>
        </p:nvSpPr>
        <p:spPr>
          <a:xfrm>
            <a:off x="1156462" y="2659382"/>
            <a:ext cx="4711141" cy="208788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One request creates every insight: tip, suggestions, forecast, alerts, timeline and diagnosis</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The result is saved and reused. A new call happens only on "Refresh AI"</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If the AI is down, insights are worked out from live numbers using rules</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It may only use the data given and never invents numbers</a:t>
            </a:r>
            <a:endParaRPr lang="en-US" sz="1400" dirty="0"/>
          </a:p>
        </p:txBody>
      </p:sp>
      <p:sp>
        <p:nvSpPr>
          <p:cNvPr id="8" name="Shape 6"/>
          <p:cNvSpPr/>
          <p:nvPr/>
        </p:nvSpPr>
        <p:spPr>
          <a:xfrm>
            <a:off x="6200775" y="1956436"/>
            <a:ext cx="5175250" cy="3021330"/>
          </a:xfrm>
          <a:prstGeom prst="roundRect">
            <a:avLst>
              <a:gd name="adj" fmla="val 4939"/>
            </a:avLst>
          </a:prstGeom>
          <a:solidFill>
            <a:srgbClr val="4A2F20"/>
          </a:solidFill>
          <a:ln w="6350">
            <a:solidFill>
              <a:srgbClr val="6A4630"/>
            </a:solidFill>
            <a:prstDash val="solid"/>
          </a:ln>
        </p:spPr>
      </p:sp>
      <p:sp>
        <p:nvSpPr>
          <p:cNvPr id="9" name="Text 7"/>
          <p:cNvSpPr/>
          <p:nvPr/>
        </p:nvSpPr>
        <p:spPr>
          <a:xfrm>
            <a:off x="6456680" y="2212339"/>
            <a:ext cx="4803343"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E0B48A"/>
                </a:solidFill>
                <a:latin typeface="DM Serif Display" pitchFamily="18" charset="0"/>
                <a:ea typeface="DM Serif Display" pitchFamily="18" charset="-122"/>
                <a:cs typeface="DM Serif Display" pitchFamily="18" charset="-120"/>
              </a:rPr>
              <a:t>How we keep it safe</a:t>
            </a:r>
            <a:endParaRPr lang="en-US" sz="2100" dirty="0"/>
          </a:p>
        </p:txBody>
      </p:sp>
      <p:sp>
        <p:nvSpPr>
          <p:cNvPr id="10" name="Text 8"/>
          <p:cNvSpPr/>
          <p:nvPr/>
        </p:nvSpPr>
        <p:spPr>
          <a:xfrm>
            <a:off x="6541262" y="2659382"/>
            <a:ext cx="4711141" cy="208788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Platform tokens are encrypted (Fernet/AES) before saving, and the browser sees only the last 4 characters</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Passwords are checked on the server, with signed HttpOnly session cookies</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Login attempts are rate limited</a:t>
            </a:r>
            <a:endParaRPr lang="en-US" sz="1400" dirty="0"/>
          </a:p>
          <a:p>
            <a:pPr algn="l" marL="169418" indent="-169418">
              <a:lnSpc>
                <a:spcPts val="2030"/>
              </a:lnSpc>
              <a:buSzPct val="100000"/>
              <a:buChar char="•"/>
            </a:pPr>
            <a:r>
              <a:rPr lang="en-US" sz="1400" dirty="0">
                <a:solidFill>
                  <a:srgbClr val="D9C5B0"/>
                </a:solidFill>
                <a:latin typeface="DM Sans" pitchFamily="34" charset="0"/>
                <a:ea typeface="DM Sans" pitchFamily="34" charset="-122"/>
                <a:cs typeface="DM Sans" pitchFamily="34" charset="-120"/>
              </a:rPr>
              <a:t>The demo account is view-only, so judges can explore safely</a:t>
            </a:r>
            <a:endParaRPr lang="en-US" sz="1400" dirty="0"/>
          </a:p>
        </p:txBody>
      </p:sp>
      <p:sp>
        <p:nvSpPr>
          <p:cNvPr id="11" name="Text 9"/>
          <p:cNvSpPr/>
          <p:nvPr/>
        </p:nvSpPr>
        <p:spPr>
          <a:xfrm>
            <a:off x="812800" y="6238242"/>
            <a:ext cx="180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5B0"/>
                </a:solidFill>
                <a:latin typeface="DM Sans" pitchFamily="34" charset="0"/>
                <a:ea typeface="DM Sans" pitchFamily="34" charset="-122"/>
                <a:cs typeface="DM Sans" pitchFamily="34" charset="-120"/>
              </a:rPr>
              <a:t>Nexus · TechieMechie</a:t>
            </a:r>
            <a:endParaRPr lang="en-US" sz="1200" dirty="0"/>
          </a:p>
        </p:txBody>
      </p:sp>
      <p:sp>
        <p:nvSpPr>
          <p:cNvPr id="12" name="Text 10"/>
          <p:cNvSpPr/>
          <p:nvPr/>
        </p:nvSpPr>
        <p:spPr>
          <a:xfrm>
            <a:off x="10841514" y="6238242"/>
            <a:ext cx="6452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5B0"/>
                </a:solidFill>
                <a:latin typeface="DM Sans" pitchFamily="34" charset="0"/>
                <a:ea typeface="DM Sans" pitchFamily="34" charset="-122"/>
                <a:cs typeface="DM Sans" pitchFamily="34" charset="-120"/>
              </a:rPr>
              <a:t>08 / 09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F542A"/>
        </a:solidFill>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F7F1E8"/>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F3DCC2"/>
                </a:solidFill>
                <a:latin typeface="DM Sans" pitchFamily="34" charset="0"/>
                <a:ea typeface="DM Sans" pitchFamily="34" charset="-122"/>
                <a:cs typeface="DM Sans" pitchFamily="34" charset="-120"/>
              </a:rPr>
              <a:t>STATUS AND NEXT STEPS</a:t>
            </a:r>
            <a:endParaRPr lang="en-US" sz="1300" dirty="0"/>
          </a:p>
        </p:txBody>
      </p:sp>
      <p:sp>
        <p:nvSpPr>
          <p:cNvPr id="4" name="Text 2"/>
          <p:cNvSpPr/>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FFF8EF"/>
                </a:solidFill>
                <a:latin typeface="DM Serif Display" pitchFamily="18" charset="0"/>
                <a:ea typeface="DM Serif Display" pitchFamily="18" charset="-122"/>
                <a:cs typeface="DM Serif Display" pitchFamily="18" charset="-120"/>
              </a:rPr>
              <a:t>Live today, ready for real data next</a:t>
            </a:r>
            <a:endParaRPr lang="en-US" sz="3600" dirty="0"/>
          </a:p>
        </p:txBody>
      </p:sp>
      <p:sp>
        <p:nvSpPr>
          <p:cNvPr id="5" name="Shape 3"/>
          <p:cNvSpPr/>
          <p:nvPr/>
        </p:nvSpPr>
        <p:spPr>
          <a:xfrm>
            <a:off x="812800" y="1965964"/>
            <a:ext cx="3318907" cy="0"/>
          </a:xfrm>
          <a:prstGeom prst="line">
            <a:avLst/>
          </a:prstGeom>
          <a:noFill/>
          <a:ln w="25400">
            <a:solidFill>
              <a:srgbClr val="F7F1E8"/>
            </a:solidFill>
            <a:prstDash val="solid"/>
          </a:ln>
        </p:spPr>
      </p:sp>
      <p:sp>
        <p:nvSpPr>
          <p:cNvPr id="6" name="Text 4"/>
          <p:cNvSpPr/>
          <p:nvPr/>
        </p:nvSpPr>
        <p:spPr>
          <a:xfrm>
            <a:off x="812800" y="2131064"/>
            <a:ext cx="3418474"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FF8EF"/>
                </a:solidFill>
                <a:latin typeface="DM Serif Display" pitchFamily="18" charset="0"/>
                <a:ea typeface="DM Serif Display" pitchFamily="18" charset="-122"/>
                <a:cs typeface="DM Serif Display" pitchFamily="18" charset="-120"/>
              </a:rPr>
              <a:t>Today</a:t>
            </a:r>
            <a:endParaRPr lang="en-US" sz="2100" dirty="0"/>
          </a:p>
        </p:txBody>
      </p:sp>
      <p:sp>
        <p:nvSpPr>
          <p:cNvPr id="7" name="Text 5"/>
          <p:cNvSpPr/>
          <p:nvPr/>
        </p:nvSpPr>
        <p:spPr>
          <a:xfrm>
            <a:off x="897382" y="2552700"/>
            <a:ext cx="3326272"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Deployed, working web app</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Simulated orders, with time sped up so changes show live</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Demo platform accounts, with a live-mode switch</a:t>
            </a:r>
            <a:endParaRPr lang="en-US" sz="1400" dirty="0"/>
          </a:p>
        </p:txBody>
      </p:sp>
      <p:sp>
        <p:nvSpPr>
          <p:cNvPr id="8" name="Shape 6"/>
          <p:cNvSpPr/>
          <p:nvPr/>
        </p:nvSpPr>
        <p:spPr>
          <a:xfrm>
            <a:off x="4436507" y="1965964"/>
            <a:ext cx="3318986" cy="0"/>
          </a:xfrm>
          <a:prstGeom prst="line">
            <a:avLst/>
          </a:prstGeom>
          <a:noFill/>
          <a:ln w="25400">
            <a:solidFill>
              <a:srgbClr val="F7F1E8"/>
            </a:solidFill>
            <a:prstDash val="solid"/>
          </a:ln>
        </p:spPr>
      </p:sp>
      <p:sp>
        <p:nvSpPr>
          <p:cNvPr id="9" name="Text 7"/>
          <p:cNvSpPr/>
          <p:nvPr/>
        </p:nvSpPr>
        <p:spPr>
          <a:xfrm>
            <a:off x="4436507" y="2131064"/>
            <a:ext cx="3418556"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FF8EF"/>
                </a:solidFill>
                <a:latin typeface="DM Serif Display" pitchFamily="18" charset="0"/>
                <a:ea typeface="DM Serif Display" pitchFamily="18" charset="-122"/>
                <a:cs typeface="DM Serif Display" pitchFamily="18" charset="-120"/>
              </a:rPr>
              <a:t>Impact</a:t>
            </a:r>
            <a:endParaRPr lang="en-US" sz="2100" dirty="0"/>
          </a:p>
        </p:txBody>
      </p:sp>
      <p:sp>
        <p:nvSpPr>
          <p:cNvPr id="10" name="Text 8"/>
          <p:cNvSpPr/>
          <p:nvPr/>
        </p:nvSpPr>
        <p:spPr>
          <a:xfrm>
            <a:off x="4521089" y="2552700"/>
            <a:ext cx="3326354" cy="105664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Less wasted ad budget</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Fewer stockout penalties</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True profit per ad and product</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No analyst needed</a:t>
            </a:r>
            <a:endParaRPr lang="en-US" sz="1400" dirty="0"/>
          </a:p>
        </p:txBody>
      </p:sp>
      <p:sp>
        <p:nvSpPr>
          <p:cNvPr id="11" name="Shape 9"/>
          <p:cNvSpPr/>
          <p:nvPr/>
        </p:nvSpPr>
        <p:spPr>
          <a:xfrm>
            <a:off x="8060293" y="1965964"/>
            <a:ext cx="3318907" cy="0"/>
          </a:xfrm>
          <a:prstGeom prst="line">
            <a:avLst/>
          </a:prstGeom>
          <a:noFill/>
          <a:ln w="25400">
            <a:solidFill>
              <a:srgbClr val="F7F1E8"/>
            </a:solidFill>
            <a:prstDash val="solid"/>
          </a:ln>
        </p:spPr>
      </p:sp>
      <p:sp>
        <p:nvSpPr>
          <p:cNvPr id="12" name="Text 10"/>
          <p:cNvSpPr/>
          <p:nvPr/>
        </p:nvSpPr>
        <p:spPr>
          <a:xfrm>
            <a:off x="8060293" y="2131064"/>
            <a:ext cx="3418474" cy="34544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FF8EF"/>
                </a:solidFill>
                <a:latin typeface="DM Serif Display" pitchFamily="18" charset="0"/>
                <a:ea typeface="DM Serif Display" pitchFamily="18" charset="-122"/>
                <a:cs typeface="DM Serif Display" pitchFamily="18" charset="-120"/>
              </a:rPr>
              <a:t>Next</a:t>
            </a:r>
            <a:endParaRPr lang="en-US" sz="2100" dirty="0"/>
          </a:p>
        </p:txBody>
      </p:sp>
      <p:sp>
        <p:nvSpPr>
          <p:cNvPr id="13" name="Text 11"/>
          <p:cNvSpPr/>
          <p:nvPr/>
        </p:nvSpPr>
        <p:spPr>
          <a:xfrm>
            <a:off x="8144875" y="2552700"/>
            <a:ext cx="3326272"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Real Meta, Google, Shopify, Amazon and Flipkart APIs</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Apply approved actions on the platforms</a:t>
            </a:r>
            <a:endParaRPr lang="en-US" sz="1400" dirty="0"/>
          </a:p>
          <a:p>
            <a:pPr algn="l" marL="169418" indent="-169418">
              <a:lnSpc>
                <a:spcPts val="2030"/>
              </a:lnSpc>
              <a:buSzPct val="100000"/>
              <a:buChar char="•"/>
            </a:pPr>
            <a:r>
              <a:rPr lang="en-US" sz="1400" dirty="0">
                <a:solidFill>
                  <a:srgbClr val="FFF8EF"/>
                </a:solidFill>
                <a:latin typeface="DM Sans" pitchFamily="34" charset="0"/>
                <a:ea typeface="DM Sans" pitchFamily="34" charset="-122"/>
                <a:cs typeface="DM Sans" pitchFamily="34" charset="-120"/>
              </a:rPr>
              <a:t>Learn from real outcomes</a:t>
            </a:r>
            <a:endParaRPr lang="en-US" sz="1400" dirty="0"/>
          </a:p>
        </p:txBody>
      </p:sp>
      <p:sp>
        <p:nvSpPr>
          <p:cNvPr id="14" name="Text 12"/>
          <p:cNvSpPr/>
          <p:nvPr/>
        </p:nvSpPr>
        <p:spPr>
          <a:xfrm>
            <a:off x="812800" y="5175250"/>
            <a:ext cx="10883392" cy="692150"/>
          </a:xfrm>
          <a:prstGeom prst="rect">
            <a:avLst/>
          </a:prstGeom>
          <a:noFill/>
          <a:ln/>
        </p:spPr>
        <p:txBody>
          <a:bodyPr wrap="square" lIns="0" tIns="0" rIns="0" bIns="0" rtlCol="0" anchor="t">
            <a:normAutofit/>
          </a:bodyPr>
          <a:lstStyle/>
          <a:p>
            <a:pPr algn="l" indent="0" marL="0">
              <a:lnSpc>
                <a:spcPts val="5250"/>
              </a:lnSpc>
              <a:buNone/>
            </a:pPr>
            <a:r>
              <a:rPr lang="en-US" sz="5000" i="1" dirty="0">
                <a:solidFill>
                  <a:srgbClr val="FFF8EF"/>
                </a:solidFill>
                <a:latin typeface="DM Serif Display" pitchFamily="18" charset="0"/>
                <a:ea typeface="DM Serif Display" pitchFamily="18" charset="-122"/>
                <a:cs typeface="DM Serif Display" pitchFamily="18" charset="-120"/>
              </a:rPr>
              <a:t>Stop guessing. Start knowing.</a:t>
            </a:r>
            <a:endParaRPr lang="en-US" sz="5000" dirty="0"/>
          </a:p>
        </p:txBody>
      </p:sp>
      <p:sp>
        <p:nvSpPr>
          <p:cNvPr id="15" name="Text 13"/>
          <p:cNvSpPr/>
          <p:nvPr/>
        </p:nvSpPr>
        <p:spPr>
          <a:xfrm>
            <a:off x="812800" y="6238242"/>
            <a:ext cx="30005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DCC2"/>
                </a:solidFill>
                <a:latin typeface="DM Sans" pitchFamily="34" charset="0"/>
                <a:ea typeface="DM Sans" pitchFamily="34" charset="-122"/>
                <a:cs typeface="DM Sans" pitchFamily="34" charset="-120"/>
              </a:rPr>
              <a:t>techiemechiebetadq.up.railway.app</a:t>
            </a:r>
            <a:endParaRPr lang="en-US" sz="1200" dirty="0"/>
          </a:p>
        </p:txBody>
      </p:sp>
      <p:sp>
        <p:nvSpPr>
          <p:cNvPr id="16" name="Text 14"/>
          <p:cNvSpPr/>
          <p:nvPr/>
        </p:nvSpPr>
        <p:spPr>
          <a:xfrm>
            <a:off x="10838418" y="6238242"/>
            <a:ext cx="6489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DCC2"/>
                </a:solidFill>
                <a:latin typeface="DM Sans" pitchFamily="34" charset="0"/>
                <a:ea typeface="DM Sans" pitchFamily="34" charset="-122"/>
                <a:cs typeface="DM Sans" pitchFamily="34" charset="-120"/>
              </a:rPr>
              <a:t>09 / 09</a:t>
            </a:r>
            <a:endParaRPr lang="en-US" sz="1200" dirty="0"/>
          </a:p>
        </p:txBody>
      </p:sp>
    </p:spTree>
  </p:cSld>
  <p:clrMapOvr>
    <a:masterClrMapping/>
  </p:clrMapOvr>
</p:sld>
</file>

<file path=ppt/theme/theme1.xml><?xml version="1.0" encoding="utf-8"?>
<a:theme xmlns:a="http://schemas.openxmlformats.org/drawingml/2006/main" name="Nexus Pitch Deck">
  <a:themeElements>
    <a:clrScheme name="Nexus Pitch Deck">
      <a:dk1>
        <a:srgbClr val="3A2418"/>
      </a:dk1>
      <a:lt1>
        <a:srgbClr val="F7F1E8"/>
      </a:lt1>
      <a:dk2>
        <a:srgbClr val="4D392D"/>
      </a:dk2>
      <a:lt2>
        <a:srgbClr val="C8BEB4"/>
      </a:lt2>
      <a:accent1>
        <a:srgbClr val="E0B48A"/>
      </a:accent1>
      <a:accent2>
        <a:srgbClr val="8F542A"/>
      </a:accent2>
      <a:accent3>
        <a:srgbClr val="7A4624"/>
      </a:accent3>
      <a:accent4>
        <a:srgbClr val="D9C5B0"/>
      </a:accent4>
      <a:accent5>
        <a:srgbClr val="5E4637"/>
      </a:accent5>
      <a:accent6>
        <a:srgbClr val="F3DCC2"/>
      </a:accent6>
      <a:hlink>
        <a:srgbClr val="0563C1"/>
      </a:hlink>
      <a:folHlink>
        <a:srgbClr val="954F72"/>
      </a:folHlink>
    </a:clrScheme>
    <a:fontScheme name="Nexus Pitch Deck">
      <a:majorFont>
        <a:latin typeface="DM Serif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Pitch Deck</dc:title>
  <dc:subject/>
  <dc:creator/>
  <cp:lastModifiedBy/>
  <cp:revision>1</cp:revision>
  <dcterms:created xsi:type="dcterms:W3CDTF">2026-10-07T22:19:51Z</dcterms:created>
  <dcterms:modified xsi:type="dcterms:W3CDTF">2026-10-07T22:19:51Z</dcterms:modified>
</cp:coreProperties>
</file>